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1" r:id="rId7"/>
    <p:sldId id="260" r:id="rId8"/>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87" autoAdjust="0"/>
    <p:restoredTop sz="94660"/>
  </p:normalViewPr>
  <p:slideViewPr>
    <p:cSldViewPr snapToGrid="0" showGuides="1">
      <p:cViewPr varScale="1">
        <p:scale>
          <a:sx n="116" d="100"/>
          <a:sy n="116" d="100"/>
        </p:scale>
        <p:origin x="336" y="1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presProps" Target="presProps.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1" Type="http://schemas.openxmlformats.org/officeDocument/2006/relationships/tableStyles" Target="tableStyles.xml"/><Relationship Id="rId10" Type="http://schemas.openxmlformats.org/officeDocument/2006/relationships/viewProps" Target="viewProps.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997B5FA-0921-464F-AAE1-844C04324D75}"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65CE74E-AB26-4998-AD42-012C4C1AD076}"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2.png"/><Relationship Id="rId1"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2510790" y="2007870"/>
            <a:ext cx="6772275" cy="2306955"/>
          </a:xfrm>
          <a:prstGeom prst="rect">
            <a:avLst/>
          </a:prstGeom>
          <a:noFill/>
        </p:spPr>
        <p:txBody>
          <a:bodyPr wrap="square" rtlCol="0" anchor="t">
            <a:spAutoFit/>
          </a:bodyPr>
          <a:p>
            <a:pPr>
              <a:lnSpc>
                <a:spcPct val="150000"/>
              </a:lnSpc>
            </a:pPr>
            <a:r>
              <a:rPr lang="zh-CN" altLang="en-US" sz="2400" dirty="0">
                <a:sym typeface="+mn-ea"/>
              </a:rPr>
              <a:t>任务列表</a:t>
            </a:r>
            <a:endParaRPr lang="en-US" altLang="zh-CN" sz="2400" dirty="0"/>
          </a:p>
          <a:p>
            <a:pPr marL="342900" indent="-342900">
              <a:lnSpc>
                <a:spcPct val="150000"/>
              </a:lnSpc>
              <a:buAutoNum type="arabicPeriod"/>
            </a:pPr>
            <a:r>
              <a:rPr lang="zh-CN" altLang="en-US" sz="2400" dirty="0">
                <a:sym typeface="+mn-ea"/>
              </a:rPr>
              <a:t>过去内容的整理</a:t>
            </a:r>
            <a:endParaRPr lang="zh-CN" altLang="en-US" sz="2400" dirty="0">
              <a:sym typeface="+mn-ea"/>
            </a:endParaRPr>
          </a:p>
          <a:p>
            <a:pPr marL="342900" indent="-342900">
              <a:lnSpc>
                <a:spcPct val="150000"/>
              </a:lnSpc>
              <a:buAutoNum type="arabicPeriod"/>
            </a:pPr>
            <a:r>
              <a:rPr lang="zh-CN" altLang="en-US" sz="2400" dirty="0">
                <a:sym typeface="+mn-ea"/>
              </a:rPr>
              <a:t>确认</a:t>
            </a:r>
            <a:r>
              <a:rPr lang="en-US" altLang="zh-CN" sz="2400" dirty="0">
                <a:sym typeface="+mn-ea"/>
              </a:rPr>
              <a:t>4K</a:t>
            </a:r>
            <a:r>
              <a:rPr lang="zh-CN" altLang="en-US" sz="2400" dirty="0">
                <a:sym typeface="+mn-ea"/>
              </a:rPr>
              <a:t>顺序读和</a:t>
            </a:r>
            <a:r>
              <a:rPr lang="en-US" altLang="zh-CN" sz="2400" dirty="0">
                <a:sym typeface="+mn-ea"/>
              </a:rPr>
              <a:t>16K</a:t>
            </a:r>
            <a:r>
              <a:rPr lang="zh-CN" altLang="en-US" sz="2400" dirty="0">
                <a:sym typeface="+mn-ea"/>
              </a:rPr>
              <a:t>顺序读的性能差距</a:t>
            </a:r>
            <a:endParaRPr lang="zh-CN" altLang="en-US" sz="2400" dirty="0">
              <a:sym typeface="+mn-ea"/>
            </a:endParaRPr>
          </a:p>
          <a:p>
            <a:pPr marL="342900" indent="-342900">
              <a:lnSpc>
                <a:spcPct val="150000"/>
              </a:lnSpc>
              <a:buAutoNum type="arabicPeriod"/>
            </a:pPr>
            <a:r>
              <a:rPr lang="zh-CN" altLang="en-US" sz="2400" dirty="0">
                <a:sym typeface="+mn-ea"/>
              </a:rPr>
              <a:t>在磁盘高负载下的测试方法</a:t>
            </a:r>
            <a:endParaRPr lang="zh-CN" altLang="en-US" sz="2400" dirty="0">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文本框 4"/>
          <p:cNvSpPr txBox="1"/>
          <p:nvPr/>
        </p:nvSpPr>
        <p:spPr>
          <a:xfrm>
            <a:off x="671830" y="1285875"/>
            <a:ext cx="9698355" cy="3415030"/>
          </a:xfrm>
          <a:prstGeom prst="rect">
            <a:avLst/>
          </a:prstGeom>
          <a:noFill/>
        </p:spPr>
        <p:txBody>
          <a:bodyPr wrap="square" rtlCol="0" anchor="t">
            <a:spAutoFit/>
          </a:bodyPr>
          <a:p>
            <a:pPr>
              <a:lnSpc>
                <a:spcPct val="150000"/>
              </a:lnSpc>
            </a:pPr>
            <a:r>
              <a:rPr lang="en-US" altLang="zh-CN" sz="2400"/>
              <a:t>cache_distribution: </a:t>
            </a:r>
            <a:r>
              <a:rPr lang="zh-CN" altLang="en-US" sz="2400"/>
              <a:t>采集应用安装与数据占用、文件分布信息。</a:t>
            </a:r>
            <a:endParaRPr lang="zh-CN" altLang="en-US" sz="2400"/>
          </a:p>
          <a:p>
            <a:pPr>
              <a:lnSpc>
                <a:spcPct val="150000"/>
              </a:lnSpc>
            </a:pPr>
            <a:r>
              <a:rPr lang="en-US" altLang="zh-CN" sz="2400"/>
              <a:t>ctrace_io: </a:t>
            </a:r>
            <a:r>
              <a:rPr lang="zh-CN" altLang="en-US" sz="2400"/>
              <a:t>通过</a:t>
            </a:r>
            <a:r>
              <a:rPr lang="en-US" altLang="zh-CN" sz="2400"/>
              <a:t> atrace </a:t>
            </a:r>
            <a:r>
              <a:rPr lang="zh-CN" altLang="en-US" sz="2400"/>
              <a:t>采集冷启动</a:t>
            </a:r>
            <a:r>
              <a:rPr lang="en-US" altLang="zh-CN" sz="2400"/>
              <a:t> I/O Trace</a:t>
            </a:r>
            <a:r>
              <a:rPr lang="zh-CN" altLang="en-US" sz="2400"/>
              <a:t>（含有</a:t>
            </a:r>
            <a:r>
              <a:rPr lang="en-US" altLang="zh-CN" sz="2400"/>
              <a:t>/</a:t>
            </a:r>
            <a:r>
              <a:rPr lang="zh-CN" altLang="en-US" sz="2400"/>
              <a:t>无</a:t>
            </a:r>
            <a:r>
              <a:rPr lang="en-US" altLang="zh-CN" sz="2400"/>
              <a:t> PageCache</a:t>
            </a:r>
            <a:r>
              <a:rPr lang="zh-CN" altLang="en-US" sz="2400"/>
              <a:t>）。</a:t>
            </a:r>
            <a:endParaRPr lang="zh-CN" altLang="en-US" sz="2400"/>
          </a:p>
          <a:p>
            <a:pPr>
              <a:lnSpc>
                <a:spcPct val="150000"/>
              </a:lnSpc>
            </a:pPr>
            <a:r>
              <a:rPr lang="en-US" altLang="zh-CN" sz="2400"/>
              <a:t>ssd_performance: fio </a:t>
            </a:r>
            <a:r>
              <a:rPr lang="zh-CN" altLang="en-US" sz="2400"/>
              <a:t>稳态</a:t>
            </a:r>
            <a:r>
              <a:rPr lang="en-US" altLang="zh-CN" sz="2400"/>
              <a:t>/</a:t>
            </a:r>
            <a:r>
              <a:rPr lang="zh-CN" altLang="en-US" sz="2400"/>
              <a:t>顺序读写性能与块大小对比。</a:t>
            </a:r>
            <a:endParaRPr lang="zh-CN" altLang="en-US" sz="2400"/>
          </a:p>
          <a:p>
            <a:pPr>
              <a:lnSpc>
                <a:spcPct val="150000"/>
              </a:lnSpc>
            </a:pPr>
            <a:r>
              <a:rPr lang="en-US" altLang="zh-CN" sz="2400"/>
              <a:t>start_time_test: </a:t>
            </a:r>
            <a:r>
              <a:rPr lang="zh-CN" altLang="en-US" sz="2400"/>
              <a:t>冷启动时间对比（热启动</a:t>
            </a:r>
            <a:r>
              <a:rPr lang="en-US" altLang="zh-CN" sz="2400"/>
              <a:t>/</a:t>
            </a:r>
            <a:r>
              <a:rPr lang="zh-CN" altLang="en-US" sz="2400"/>
              <a:t>仅清</a:t>
            </a:r>
            <a:r>
              <a:rPr lang="en-US" altLang="zh-CN" sz="2400"/>
              <a:t> PageCache/</a:t>
            </a:r>
            <a:r>
              <a:rPr lang="zh-CN" altLang="en-US" sz="2400"/>
              <a:t>全清缓存）。</a:t>
            </a:r>
            <a:endParaRPr lang="zh-CN" altLang="en-US" sz="2400"/>
          </a:p>
          <a:p>
            <a:pPr>
              <a:lnSpc>
                <a:spcPct val="150000"/>
              </a:lnSpc>
            </a:pPr>
            <a:r>
              <a:rPr lang="en-US" altLang="zh-CN" sz="2400"/>
              <a:t>visit_io: </a:t>
            </a:r>
            <a:r>
              <a:rPr lang="zh-CN" altLang="en-US" sz="2400"/>
              <a:t>基于</a:t>
            </a:r>
            <a:r>
              <a:rPr lang="en-US" altLang="zh-CN" sz="2400"/>
              <a:t> ftrace </a:t>
            </a:r>
            <a:r>
              <a:rPr lang="zh-CN" altLang="en-US" sz="2400"/>
              <a:t>的真实读序列分析与可视化，评估</a:t>
            </a:r>
            <a:r>
              <a:rPr lang="en-US" altLang="zh-CN" sz="2400"/>
              <a:t> Readahead </a:t>
            </a:r>
            <a:r>
              <a:rPr lang="zh-CN" altLang="en-US" sz="2400"/>
              <a:t>与</a:t>
            </a:r>
            <a:r>
              <a:rPr lang="en-US" altLang="zh-CN" sz="2400"/>
              <a:t> BigCache </a:t>
            </a:r>
            <a:r>
              <a:rPr lang="zh-CN" altLang="en-US" sz="2400"/>
              <a:t>方案。</a:t>
            </a:r>
            <a:endParaRPr lang="zh-CN" altLang="en-US" sz="2400"/>
          </a:p>
        </p:txBody>
      </p:sp>
      <p:sp>
        <p:nvSpPr>
          <p:cNvPr id="6" name="文本框 5"/>
          <p:cNvSpPr txBox="1"/>
          <p:nvPr/>
        </p:nvSpPr>
        <p:spPr>
          <a:xfrm>
            <a:off x="671830" y="473710"/>
            <a:ext cx="3921125" cy="460375"/>
          </a:xfrm>
          <a:prstGeom prst="rect">
            <a:avLst/>
          </a:prstGeom>
          <a:noFill/>
        </p:spPr>
        <p:txBody>
          <a:bodyPr wrap="square" rtlCol="0">
            <a:spAutoFit/>
          </a:bodyPr>
          <a:p>
            <a:r>
              <a:rPr lang="zh-CN" altLang="en-US" sz="2400"/>
              <a:t>目前已经实现的功能梳理</a:t>
            </a:r>
            <a:endParaRPr lang="zh-CN" altLang="en-US" sz="2400"/>
          </a:p>
        </p:txBody>
      </p:sp>
      <p:sp>
        <p:nvSpPr>
          <p:cNvPr id="7" name="文本框 6"/>
          <p:cNvSpPr txBox="1"/>
          <p:nvPr/>
        </p:nvSpPr>
        <p:spPr>
          <a:xfrm>
            <a:off x="671830" y="5441315"/>
            <a:ext cx="9535795" cy="398780"/>
          </a:xfrm>
          <a:prstGeom prst="rect">
            <a:avLst/>
          </a:prstGeom>
          <a:noFill/>
        </p:spPr>
        <p:txBody>
          <a:bodyPr wrap="square" rtlCol="0">
            <a:spAutoFit/>
          </a:bodyPr>
          <a:p>
            <a:r>
              <a:rPr lang="zh-CN" altLang="en-US" sz="2000"/>
              <a:t>目前仓库：</a:t>
            </a:r>
            <a:r>
              <a:rPr lang="en-US" altLang="zh-CN" sz="2000"/>
              <a:t>https://github.com/wwhdiwbd/mobile_storage</a:t>
            </a:r>
            <a:endParaRPr lang="en-US" altLang="zh-CN" sz="20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98805" y="473710"/>
            <a:ext cx="2813685" cy="368300"/>
          </a:xfrm>
          <a:prstGeom prst="rect">
            <a:avLst/>
          </a:prstGeom>
          <a:noFill/>
        </p:spPr>
        <p:txBody>
          <a:bodyPr wrap="square" rtlCol="0">
            <a:spAutoFit/>
          </a:bodyPr>
          <a:p>
            <a:r>
              <a:rPr lang="zh-CN" altLang="en-US"/>
              <a:t>确定读取差异</a:t>
            </a:r>
            <a:endParaRPr lang="zh-CN" altLang="en-US"/>
          </a:p>
        </p:txBody>
      </p:sp>
      <p:sp>
        <p:nvSpPr>
          <p:cNvPr id="5" name="文本框 4"/>
          <p:cNvSpPr txBox="1"/>
          <p:nvPr/>
        </p:nvSpPr>
        <p:spPr>
          <a:xfrm>
            <a:off x="598805" y="1635760"/>
            <a:ext cx="10605135" cy="3415030"/>
          </a:xfrm>
          <a:prstGeom prst="rect">
            <a:avLst/>
          </a:prstGeom>
          <a:noFill/>
        </p:spPr>
        <p:txBody>
          <a:bodyPr wrap="square" rtlCol="0">
            <a:spAutoFit/>
          </a:bodyPr>
          <a:p>
            <a:pPr>
              <a:lnSpc>
                <a:spcPct val="150000"/>
              </a:lnSpc>
            </a:pPr>
            <a:r>
              <a:rPr lang="zh-CN" altLang="en-US"/>
              <a:t>重新实验：</a:t>
            </a:r>
            <a:endParaRPr lang="zh-CN" altLang="en-US"/>
          </a:p>
          <a:p>
            <a:pPr>
              <a:lnSpc>
                <a:spcPct val="150000"/>
              </a:lnSpc>
            </a:pPr>
            <a:r>
              <a:rPr lang="zh-CN" altLang="en-US"/>
              <a:t>尝试了</a:t>
            </a:r>
            <a:r>
              <a:rPr lang="en-US" altLang="zh-CN"/>
              <a:t>androbench</a:t>
            </a:r>
            <a:r>
              <a:rPr lang="zh-CN" altLang="en-US"/>
              <a:t>，但感觉依然没有</a:t>
            </a:r>
            <a:r>
              <a:rPr lang="en-US" altLang="zh-CN"/>
              <a:t>fio</a:t>
            </a:r>
            <a:r>
              <a:rPr lang="zh-CN" altLang="en-US"/>
              <a:t>好用，因此还是使用</a:t>
            </a:r>
            <a:r>
              <a:rPr lang="en-US" altLang="zh-CN"/>
              <a:t>fio</a:t>
            </a:r>
            <a:r>
              <a:rPr lang="zh-CN" altLang="en-US"/>
              <a:t>进行操作</a:t>
            </a:r>
            <a:endParaRPr lang="zh-CN" altLang="en-US"/>
          </a:p>
          <a:p>
            <a:pPr>
              <a:lnSpc>
                <a:spcPct val="150000"/>
              </a:lnSpc>
            </a:pPr>
            <a:r>
              <a:rPr lang="zh-CN" altLang="en-US"/>
              <a:t>测试思路依然是用</a:t>
            </a:r>
            <a:r>
              <a:rPr lang="en-US" altLang="zh-CN"/>
              <a:t>4K</a:t>
            </a:r>
            <a:r>
              <a:rPr lang="zh-CN" altLang="en-US"/>
              <a:t>和</a:t>
            </a:r>
            <a:r>
              <a:rPr lang="en-US" altLang="zh-CN"/>
              <a:t>16K</a:t>
            </a:r>
            <a:r>
              <a:rPr lang="zh-CN" altLang="en-US"/>
              <a:t>的</a:t>
            </a:r>
            <a:r>
              <a:rPr lang="en-US" altLang="zh-CN"/>
              <a:t>seq</a:t>
            </a:r>
            <a:r>
              <a:rPr lang="zh-CN" altLang="en-US"/>
              <a:t>顺序方式进行读取，然后观察整体吞吐量（我目前依然以吞吐量作为评判性能的标志。在这个情况下测出来差距依然在</a:t>
            </a:r>
            <a:r>
              <a:rPr lang="en-US" altLang="zh-CN"/>
              <a:t>2-3</a:t>
            </a:r>
            <a:r>
              <a:rPr lang="zh-CN" altLang="en-US"/>
              <a:t>倍左右（</a:t>
            </a:r>
            <a:r>
              <a:rPr lang="en-US" altLang="zh-CN"/>
              <a:t>4KB</a:t>
            </a:r>
            <a:r>
              <a:rPr lang="zh-CN" altLang="en-US"/>
              <a:t>：</a:t>
            </a:r>
            <a:r>
              <a:rPr lang="en-US" altLang="zh-CN"/>
              <a:t>52.78MBps</a:t>
            </a:r>
            <a:r>
              <a:rPr lang="zh-CN" altLang="en-US"/>
              <a:t>，</a:t>
            </a:r>
            <a:r>
              <a:rPr lang="en-US" altLang="zh-CN"/>
              <a:t>16KB</a:t>
            </a:r>
            <a:r>
              <a:rPr lang="zh-CN" altLang="en-US"/>
              <a:t>：</a:t>
            </a:r>
            <a:r>
              <a:rPr lang="en-US" altLang="zh-CN"/>
              <a:t>98.28</a:t>
            </a:r>
            <a:r>
              <a:rPr lang="en-US" altLang="zh-CN"/>
              <a:t>MBps</a:t>
            </a:r>
            <a:endParaRPr lang="en-US" altLang="zh-CN"/>
          </a:p>
          <a:p>
            <a:pPr>
              <a:lnSpc>
                <a:spcPct val="150000"/>
              </a:lnSpc>
            </a:pPr>
            <a:r>
              <a:rPr lang="zh-CN" altLang="en-US"/>
              <a:t>另：上述使用</a:t>
            </a:r>
            <a:r>
              <a:rPr lang="en-US" altLang="zh-CN"/>
              <a:t>numjob=1, iodepth=1</a:t>
            </a:r>
            <a:r>
              <a:rPr lang="zh-CN" altLang="en-US"/>
              <a:t>的情况进行了测试，同时使用</a:t>
            </a:r>
            <a:r>
              <a:rPr lang="en-US" altLang="zh-CN"/>
              <a:t>sync</a:t>
            </a:r>
            <a:r>
              <a:rPr lang="zh-CN" altLang="en-US"/>
              <a:t>进行同步，在这个情况下顺序读和顺序写的差距很小，这方面目前测试了很多不同的情况，效果都不太显著，可能需要从系统的层面来进行解读。不清楚是否后续需要修改不同的并发度或者异步情况下进行额外的测试，因为目前对手机启动的情况不太了解，不知道如何最好的模拟整个情况。</a:t>
            </a:r>
            <a:endParaRPr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574675" y="240665"/>
            <a:ext cx="7157085" cy="460375"/>
          </a:xfrm>
          <a:prstGeom prst="rect">
            <a:avLst/>
          </a:prstGeom>
          <a:noFill/>
        </p:spPr>
        <p:txBody>
          <a:bodyPr wrap="square" rtlCol="0">
            <a:spAutoFit/>
          </a:bodyPr>
          <a:p>
            <a:r>
              <a:rPr lang="zh-CN" altLang="en-US" sz="2400"/>
              <a:t>高磁盘负载下的情况测试</a:t>
            </a:r>
            <a:endParaRPr lang="zh-CN" altLang="en-US" sz="2400"/>
          </a:p>
        </p:txBody>
      </p:sp>
      <p:sp>
        <p:nvSpPr>
          <p:cNvPr id="5" name="文本框 4"/>
          <p:cNvSpPr txBox="1"/>
          <p:nvPr/>
        </p:nvSpPr>
        <p:spPr>
          <a:xfrm>
            <a:off x="574675" y="920750"/>
            <a:ext cx="8882380" cy="2168525"/>
          </a:xfrm>
          <a:prstGeom prst="rect">
            <a:avLst/>
          </a:prstGeom>
          <a:noFill/>
        </p:spPr>
        <p:txBody>
          <a:bodyPr wrap="square" rtlCol="0">
            <a:spAutoFit/>
          </a:bodyPr>
          <a:p>
            <a:pPr>
              <a:lnSpc>
                <a:spcPct val="150000"/>
              </a:lnSpc>
            </a:pPr>
            <a:r>
              <a:rPr lang="zh-CN" altLang="en-US"/>
              <a:t>目前额外实现脚本对这个情况进行测试：</a:t>
            </a:r>
            <a:endParaRPr lang="zh-CN" altLang="en-US"/>
          </a:p>
          <a:p>
            <a:pPr>
              <a:lnSpc>
                <a:spcPct val="150000"/>
              </a:lnSpc>
            </a:pPr>
            <a:r>
              <a:rPr lang="zh-CN" altLang="en-US"/>
              <a:t>脚本</a:t>
            </a:r>
            <a:r>
              <a:rPr lang="en-US" altLang="zh-CN"/>
              <a:t>1</a:t>
            </a:r>
            <a:r>
              <a:rPr lang="zh-CN" altLang="en-US"/>
              <a:t>：模拟写入多个零碎文件，使手机磁盘空间降低至预期的大小（例如</a:t>
            </a:r>
            <a:r>
              <a:rPr lang="en-US" altLang="zh-CN"/>
              <a:t>10%</a:t>
            </a:r>
            <a:r>
              <a:rPr lang="zh-CN" altLang="en-US"/>
              <a:t>，或者</a:t>
            </a:r>
            <a:r>
              <a:rPr lang="en-US" altLang="zh-CN"/>
              <a:t>5%</a:t>
            </a:r>
            <a:r>
              <a:rPr lang="zh-CN" altLang="en-US"/>
              <a:t>）</a:t>
            </a:r>
            <a:endParaRPr lang="zh-CN" altLang="en-US"/>
          </a:p>
          <a:p>
            <a:pPr>
              <a:lnSpc>
                <a:spcPct val="150000"/>
              </a:lnSpc>
            </a:pPr>
            <a:r>
              <a:rPr lang="zh-CN" altLang="en-US"/>
              <a:t>脚本</a:t>
            </a:r>
            <a:r>
              <a:rPr lang="en-US" altLang="zh-CN"/>
              <a:t>2</a:t>
            </a:r>
            <a:r>
              <a:rPr lang="zh-CN" altLang="en-US"/>
              <a:t>：运行先前的脚本接着进行冷启动以及</a:t>
            </a:r>
            <a:r>
              <a:rPr lang="en-US" altLang="zh-CN"/>
              <a:t>fio</a:t>
            </a:r>
            <a:r>
              <a:rPr lang="zh-CN" altLang="en-US"/>
              <a:t>测试</a:t>
            </a:r>
            <a:endParaRPr lang="zh-CN" altLang="en-US"/>
          </a:p>
          <a:p>
            <a:pPr>
              <a:lnSpc>
                <a:spcPct val="150000"/>
              </a:lnSpc>
            </a:pPr>
            <a:r>
              <a:rPr lang="zh-CN" altLang="en-US"/>
              <a:t>目前整体的脚本已经完成并且可以正常运行，完成的一轮数据测试</a:t>
            </a:r>
            <a:endParaRPr lang="zh-CN" alt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6" name="文本框 5"/>
          <p:cNvSpPr txBox="1"/>
          <p:nvPr/>
        </p:nvSpPr>
        <p:spPr>
          <a:xfrm>
            <a:off x="1364615" y="1551305"/>
            <a:ext cx="1656715" cy="368300"/>
          </a:xfrm>
          <a:prstGeom prst="rect">
            <a:avLst/>
          </a:prstGeom>
          <a:noFill/>
        </p:spPr>
        <p:txBody>
          <a:bodyPr wrap="square" rtlCol="0">
            <a:spAutoFit/>
          </a:bodyPr>
          <a:p>
            <a:r>
              <a:rPr lang="en-US" altLang="zh-CN"/>
              <a:t>31%</a:t>
            </a:r>
            <a:r>
              <a:rPr lang="zh-CN" altLang="en-US"/>
              <a:t>剩余空间</a:t>
            </a:r>
            <a:endParaRPr lang="zh-CN" altLang="en-US"/>
          </a:p>
        </p:txBody>
      </p:sp>
      <p:sp>
        <p:nvSpPr>
          <p:cNvPr id="7" name="文本框 6"/>
          <p:cNvSpPr txBox="1"/>
          <p:nvPr/>
        </p:nvSpPr>
        <p:spPr>
          <a:xfrm>
            <a:off x="1363980" y="2412365"/>
            <a:ext cx="1656715" cy="368300"/>
          </a:xfrm>
          <a:prstGeom prst="rect">
            <a:avLst/>
          </a:prstGeom>
          <a:noFill/>
        </p:spPr>
        <p:txBody>
          <a:bodyPr wrap="square" rtlCol="0">
            <a:spAutoFit/>
          </a:bodyPr>
          <a:p>
            <a:r>
              <a:rPr lang="en-US" altLang="zh-CN"/>
              <a:t>10%</a:t>
            </a:r>
            <a:r>
              <a:rPr lang="zh-CN" altLang="en-US"/>
              <a:t>剩余空间</a:t>
            </a:r>
            <a:endParaRPr lang="zh-CN" altLang="en-US"/>
          </a:p>
        </p:txBody>
      </p:sp>
      <p:sp>
        <p:nvSpPr>
          <p:cNvPr id="8" name="文本框 7"/>
          <p:cNvSpPr txBox="1"/>
          <p:nvPr/>
        </p:nvSpPr>
        <p:spPr>
          <a:xfrm>
            <a:off x="3415030" y="3836035"/>
            <a:ext cx="1656715" cy="368300"/>
          </a:xfrm>
          <a:prstGeom prst="rect">
            <a:avLst/>
          </a:prstGeom>
          <a:noFill/>
        </p:spPr>
        <p:txBody>
          <a:bodyPr wrap="square" rtlCol="0">
            <a:spAutoFit/>
          </a:bodyPr>
          <a:p>
            <a:r>
              <a:rPr lang="en-US" altLang="zh-CN"/>
              <a:t>31%</a:t>
            </a:r>
            <a:r>
              <a:rPr lang="zh-CN" altLang="en-US"/>
              <a:t>剩余空间</a:t>
            </a:r>
            <a:endParaRPr lang="zh-CN" altLang="en-US"/>
          </a:p>
        </p:txBody>
      </p:sp>
      <p:sp>
        <p:nvSpPr>
          <p:cNvPr id="9" name="文本框 8"/>
          <p:cNvSpPr txBox="1"/>
          <p:nvPr/>
        </p:nvSpPr>
        <p:spPr>
          <a:xfrm>
            <a:off x="4855210" y="3836035"/>
            <a:ext cx="1656715" cy="368300"/>
          </a:xfrm>
          <a:prstGeom prst="rect">
            <a:avLst/>
          </a:prstGeom>
          <a:noFill/>
        </p:spPr>
        <p:txBody>
          <a:bodyPr wrap="square" rtlCol="0">
            <a:spAutoFit/>
          </a:bodyPr>
          <a:p>
            <a:r>
              <a:rPr lang="en-US" altLang="zh-CN"/>
              <a:t>10%</a:t>
            </a:r>
            <a:r>
              <a:rPr lang="zh-CN" altLang="en-US"/>
              <a:t>剩余空间</a:t>
            </a:r>
            <a:endParaRPr lang="zh-CN" altLang="en-US"/>
          </a:p>
        </p:txBody>
      </p:sp>
      <p:pic>
        <p:nvPicPr>
          <p:cNvPr id="10" name="图片 9"/>
          <p:cNvPicPr>
            <a:picLocks noChangeAspect="1"/>
          </p:cNvPicPr>
          <p:nvPr/>
        </p:nvPicPr>
        <p:blipFill>
          <a:blip r:embed="rId1"/>
          <a:stretch>
            <a:fillRect/>
          </a:stretch>
        </p:blipFill>
        <p:spPr>
          <a:xfrm>
            <a:off x="3617595" y="931545"/>
            <a:ext cx="3448050" cy="2324100"/>
          </a:xfrm>
          <a:prstGeom prst="rect">
            <a:avLst/>
          </a:prstGeom>
        </p:spPr>
      </p:pic>
      <p:pic>
        <p:nvPicPr>
          <p:cNvPr id="11" name="图片 10"/>
          <p:cNvPicPr>
            <a:picLocks noChangeAspect="1"/>
          </p:cNvPicPr>
          <p:nvPr/>
        </p:nvPicPr>
        <p:blipFill>
          <a:blip r:embed="rId2"/>
          <a:stretch>
            <a:fillRect/>
          </a:stretch>
        </p:blipFill>
        <p:spPr>
          <a:xfrm>
            <a:off x="2391410" y="4204335"/>
            <a:ext cx="6667500" cy="1657350"/>
          </a:xfrm>
          <a:prstGeom prst="rect">
            <a:avLst/>
          </a:prstGeom>
        </p:spPr>
      </p:pic>
      <p:sp>
        <p:nvSpPr>
          <p:cNvPr id="12" name="文本框 11"/>
          <p:cNvSpPr txBox="1"/>
          <p:nvPr/>
        </p:nvSpPr>
        <p:spPr>
          <a:xfrm>
            <a:off x="1137285" y="6104890"/>
            <a:ext cx="8790305" cy="368300"/>
          </a:xfrm>
          <a:prstGeom prst="rect">
            <a:avLst/>
          </a:prstGeom>
          <a:noFill/>
        </p:spPr>
        <p:txBody>
          <a:bodyPr wrap="square" rtlCol="0">
            <a:spAutoFit/>
          </a:bodyPr>
          <a:p>
            <a:r>
              <a:rPr lang="zh-CN" altLang="en-US"/>
              <a:t>注：该图仅截取了一次测试的数据，没有多次平均，会有一些误差</a:t>
            </a:r>
            <a:endParaRPr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文本框 3"/>
          <p:cNvSpPr txBox="1"/>
          <p:nvPr/>
        </p:nvSpPr>
        <p:spPr>
          <a:xfrm>
            <a:off x="617220" y="375285"/>
            <a:ext cx="10575925" cy="6323965"/>
          </a:xfrm>
          <a:prstGeom prst="rect">
            <a:avLst/>
          </a:prstGeom>
          <a:noFill/>
        </p:spPr>
        <p:txBody>
          <a:bodyPr wrap="square" rtlCol="0">
            <a:spAutoFit/>
          </a:bodyPr>
          <a:p>
            <a:pPr>
              <a:lnSpc>
                <a:spcPct val="150000"/>
              </a:lnSpc>
            </a:pPr>
            <a:r>
              <a:rPr lang="zh-CN" altLang="en-US"/>
              <a:t>后续的冷启动问题分析：</a:t>
            </a:r>
            <a:endParaRPr lang="zh-CN" altLang="en-US"/>
          </a:p>
          <a:p>
            <a:pPr>
              <a:lnSpc>
                <a:spcPct val="150000"/>
              </a:lnSpc>
            </a:pPr>
            <a:r>
              <a:rPr lang="zh-CN" altLang="en-US"/>
              <a:t>第一个是之前与华为的会议中所提到的，冷启动可能会分为一种到帧渲染完成，对外展示作为结果，另外一种可能是他们自己对于冷启动的测试，可能需要从点击图标到能对内部</a:t>
            </a:r>
            <a:r>
              <a:rPr lang="en-US" altLang="zh-CN"/>
              <a:t>app</a:t>
            </a:r>
            <a:r>
              <a:rPr lang="zh-CN" altLang="en-US"/>
              <a:t>内容进行操作的时间。目前的冷启动都是通过</a:t>
            </a:r>
            <a:r>
              <a:rPr lang="en-US" altLang="zh-CN"/>
              <a:t>adb start</a:t>
            </a:r>
            <a:r>
              <a:rPr lang="zh-CN" altLang="en-US"/>
              <a:t>的命令进行启动，另外一种目前仍然在调研具体操作方法。</a:t>
            </a:r>
            <a:endParaRPr lang="zh-CN" altLang="en-US"/>
          </a:p>
          <a:p>
            <a:pPr>
              <a:lnSpc>
                <a:spcPct val="150000"/>
              </a:lnSpc>
            </a:pPr>
            <a:endParaRPr lang="zh-CN" altLang="en-US"/>
          </a:p>
          <a:p>
            <a:pPr>
              <a:lnSpc>
                <a:spcPct val="150000"/>
              </a:lnSpc>
            </a:pPr>
            <a:r>
              <a:rPr lang="zh-CN" altLang="en-US"/>
              <a:t>另外一个就是在实现其他脚本的过程中发现的一个问题，例如打开</a:t>
            </a:r>
            <a:r>
              <a:rPr lang="en-US" altLang="zh-CN"/>
              <a:t>bilibili</a:t>
            </a:r>
            <a:r>
              <a:rPr lang="zh-CN" altLang="en-US"/>
              <a:t>这个</a:t>
            </a:r>
            <a:r>
              <a:rPr lang="en-US" altLang="zh-CN"/>
              <a:t>app</a:t>
            </a:r>
            <a:r>
              <a:rPr lang="zh-CN" altLang="en-US"/>
              <a:t>，手机是否联网会决定是否会有信息展现在首页，这个对手机启动也有一定影响，在第一次测试中这样的差距也会很小，不清楚是否也要纳入最终的衡量标准中。（在没有联网的完全冷启动中有这个情况，后续连过网之后如果断了也没有这个情况，感觉这个不重要，目前没有继续深究）</a:t>
            </a:r>
            <a:endParaRPr lang="zh-CN" altLang="en-US"/>
          </a:p>
          <a:p>
            <a:pPr>
              <a:lnSpc>
                <a:spcPct val="150000"/>
              </a:lnSpc>
            </a:pPr>
            <a:endParaRPr lang="zh-CN" altLang="en-US"/>
          </a:p>
          <a:p>
            <a:pPr>
              <a:lnSpc>
                <a:spcPct val="150000"/>
              </a:lnSpc>
            </a:pPr>
            <a:r>
              <a:rPr lang="zh-CN" altLang="en-US"/>
              <a:t>目前预想的整体自动化测试流程如下：</a:t>
            </a:r>
            <a:endParaRPr lang="zh-CN" altLang="en-US"/>
          </a:p>
          <a:p>
            <a:pPr>
              <a:lnSpc>
                <a:spcPct val="150000"/>
              </a:lnSpc>
            </a:pPr>
            <a:r>
              <a:rPr lang="en-US" altLang="zh-CN"/>
              <a:t>1. </a:t>
            </a:r>
            <a:r>
              <a:rPr lang="zh-CN" altLang="en-US"/>
              <a:t>确定手机当前的剩余容量，如果与设定不符合，就进行填充（目前脚本也会判断在当前情况下的冷启动时间以及</a:t>
            </a:r>
            <a:r>
              <a:rPr lang="en-US" altLang="zh-CN"/>
              <a:t>fio</a:t>
            </a:r>
            <a:r>
              <a:rPr lang="zh-CN" altLang="en-US"/>
              <a:t>性能）</a:t>
            </a:r>
            <a:endParaRPr lang="zh-CN" altLang="en-US"/>
          </a:p>
          <a:p>
            <a:pPr>
              <a:lnSpc>
                <a:spcPct val="150000"/>
              </a:lnSpc>
            </a:pPr>
            <a:r>
              <a:rPr lang="en-US" altLang="zh-CN"/>
              <a:t>2. </a:t>
            </a:r>
            <a:r>
              <a:rPr lang="zh-CN" altLang="en-US"/>
              <a:t>在填充完成之后，运行</a:t>
            </a:r>
            <a:r>
              <a:rPr lang="en-US" altLang="zh-CN"/>
              <a:t>fio</a:t>
            </a:r>
            <a:r>
              <a:rPr lang="zh-CN" altLang="en-US"/>
              <a:t>测试，测试小块读写的性能</a:t>
            </a:r>
            <a:endParaRPr lang="zh-CN" altLang="en-US"/>
          </a:p>
          <a:p>
            <a:pPr>
              <a:lnSpc>
                <a:spcPct val="150000"/>
              </a:lnSpc>
            </a:pPr>
            <a:r>
              <a:rPr lang="en-US" altLang="zh-CN"/>
              <a:t>3. </a:t>
            </a:r>
            <a:r>
              <a:rPr lang="zh-CN" altLang="en-US"/>
              <a:t>最终进行应用冷启动以及温启动的测试。</a:t>
            </a:r>
            <a:endParaRPr lang="zh-CN" altLang="en-US"/>
          </a:p>
        </p:txBody>
      </p:sp>
    </p:spTree>
  </p:cSld>
  <p:clrMapOvr>
    <a:masterClrMapping/>
  </p:clrMapOvr>
</p:sld>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Calibri"/>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微软雅黑"/>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1284</Words>
  <Application>WPS 演示</Application>
  <PresentationFormat>宽屏</PresentationFormat>
  <Paragraphs>49</Paragraphs>
  <Slides>6</Slides>
  <Notes>0</Notes>
  <HiddenSlides>0</HiddenSlides>
  <MMClips>0</MMClips>
  <ScaleCrop>false</ScaleCrop>
  <HeadingPairs>
    <vt:vector size="6" baseType="variant">
      <vt:variant>
        <vt:lpstr>已用的字体</vt:lpstr>
      </vt:variant>
      <vt:variant>
        <vt:i4>6</vt:i4>
      </vt:variant>
      <vt:variant>
        <vt:lpstr>主题</vt:lpstr>
      </vt:variant>
      <vt:variant>
        <vt:i4>1</vt:i4>
      </vt:variant>
      <vt:variant>
        <vt:lpstr>幻灯片标题</vt:lpstr>
      </vt:variant>
      <vt:variant>
        <vt:i4>6</vt:i4>
      </vt:variant>
    </vt:vector>
  </HeadingPairs>
  <TitlesOfParts>
    <vt:vector size="13" baseType="lpstr">
      <vt:lpstr>Arial</vt:lpstr>
      <vt:lpstr>宋体</vt:lpstr>
      <vt:lpstr>Wingdings</vt:lpstr>
      <vt:lpstr>微软雅黑</vt:lpstr>
      <vt:lpstr>Calibri</vt:lpstr>
      <vt:lpstr>Arial Unicode MS</vt:lpstr>
      <vt:lpstr>WPS</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lhc</dc:creator>
  <cp:lastModifiedBy>卢昊骋wwhdiwbd</cp:lastModifiedBy>
  <cp:revision>9</cp:revision>
  <dcterms:created xsi:type="dcterms:W3CDTF">2023-08-09T12:44:00Z</dcterms:created>
  <dcterms:modified xsi:type="dcterms:W3CDTF">2026-02-26T14:39:31Z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2052-12.1.0.25225</vt:lpwstr>
  </property>
  <property fmtid="{D5CDD505-2E9C-101B-9397-08002B2CF9AE}" pid="3" name="ICV">
    <vt:lpwstr>66EFE66CE3644C17AED2A7F08BD3517C_12</vt:lpwstr>
  </property>
</Properties>
</file>