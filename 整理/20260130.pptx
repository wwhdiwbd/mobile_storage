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622B7-FA97-9767-D88A-DC5E029A1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FF1D76-B60E-A936-F2EE-22C215271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598CB-79C4-99CE-0438-9DC63406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E6E174-5CCD-BDF2-CE73-CE29407A7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6002E-D827-C5B1-41B2-60E21558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95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84BC2-A0C3-4663-548D-2130F028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18D106-680C-F7EA-F77E-9D78BABA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4D98D-9916-0A8D-5773-2EF27DC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DE6E0-D787-DB4D-CA38-2987FD81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30704-5F18-DDA7-48DE-B1C82359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5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8525A-17E4-4A7F-0B8F-FAA754A4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AD7FEE-51F7-5202-27D1-009245005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93EDE-F84C-068B-C20E-1F9ECBBD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18236-0C50-F4E5-B055-1712DA2B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E3D970-6F92-DD50-71DA-4FE149A7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28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D260C-2DB4-7132-B67C-B0AE625F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DEF378-B878-9E54-8C14-3E60A660A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ED1C9F-C6E7-DC7A-9078-93C35FD61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547213-5ABF-5309-8BD8-859B687D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F4019-D7EF-BA00-A457-FF597AAC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6E7289-E259-E011-2757-EBBC02E8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58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C821D-A4F2-FD68-8200-7A3E8A0D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EF326-3D2E-0274-091E-F42C3496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C50C19-20B8-7B4A-1476-3E4608EB2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DA6AD5-9841-56E0-6D61-6BE59C087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D3C94B-1063-E143-9A57-624605725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1BEC3A-5740-D5EC-76C8-F92CB912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FF5A94-B92B-85D5-654F-F64947F7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4F366F-C484-62F5-2276-87728DC4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1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FE97B-B63D-0362-1FD2-1EF9CB6C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0DC333-626E-88A1-2376-EE13AA3B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013885-D2E8-2CA2-4814-F40E829A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296428-AC8F-0E6B-D4C1-04C0F853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2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EE3300-FFCE-B443-FEE8-4F5FD717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D2B363-F4EE-9ACF-8812-C7B4D170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C9C22E-E83F-1140-8477-9DC465B1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83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483BB-6FCB-4E21-B20B-4DCAA8E0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9156A-B953-6378-27DC-4656DF171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6A01FC-86EC-64A9-9287-68C711D50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D1898F-9925-D02D-8626-A254CBDC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A2C65-1BF2-9E7E-7C6F-82DB1A40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862825-CF07-3892-7308-BA4B22F7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62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D0500-E7B5-B97B-DFCD-B69BC0A9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878B78-937F-B2CE-852C-515221316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BA1003-37A8-6E55-86FC-63456CCF7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0581C7-8E0A-4B2D-149B-422B48C7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B2932B-D5FB-1801-6038-81AB4D5A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78B624-B54D-5F32-090E-D0D613E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02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216D5-6FC4-EB85-7714-7FDF614F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47EEED-8491-EB2C-18FD-E71D869B6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034FD-AB38-EDD7-3B36-04CDFA7E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E66247-C3FB-99CE-BA57-9E97523C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34E418-68DB-6349-A26D-EFC5FBB2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81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A2A8F2-120C-E3DF-A1B2-7B30BD574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7CEA12-4CCF-5CAD-0056-4F97AD05A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0D012-375A-3022-2F5E-A4C2F310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9DBEBC-01D9-D208-8DDB-32B974BB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B8EE8-93A4-70A0-9453-8F657D58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92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01EAE0-DA7C-E5D9-9EE8-D92FB0C3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740EC-558B-4ACD-4410-D67873A96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49E543-0D98-F760-9475-0972DDE32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C2A3F-13C1-43CE-8832-76A501D315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D75EE7-BDCA-82A4-ABE5-115C28223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18A95-A912-B8B7-BB08-478CB3D6D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EFA18-5224-4C7C-9694-26A144647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1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CDC8AD-3D14-58D5-1536-A1E6D72C4CCA}"/>
              </a:ext>
            </a:extLst>
          </p:cNvPr>
          <p:cNvSpPr txBox="1"/>
          <p:nvPr/>
        </p:nvSpPr>
        <p:spPr>
          <a:xfrm>
            <a:off x="2112818" y="1905506"/>
            <a:ext cx="79663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本周任务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确定</a:t>
            </a:r>
            <a:r>
              <a:rPr lang="en-US" altLang="zh-CN" sz="2400" dirty="0"/>
              <a:t>IO</a:t>
            </a:r>
            <a:r>
              <a:rPr lang="zh-CN" altLang="en-US" sz="2400" dirty="0"/>
              <a:t>是否会有影响（进一步通过较大型游戏确定）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分析应用的数据占用情况（以</a:t>
            </a:r>
            <a:r>
              <a:rPr lang="en-US" altLang="zh-CN" sz="2400" dirty="0" err="1"/>
              <a:t>bilibili</a:t>
            </a:r>
            <a:r>
              <a:rPr lang="zh-CN" altLang="en-US" sz="2400" dirty="0"/>
              <a:t>为例）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观察在启动过程中究竟访问了哪些内容（以</a:t>
            </a:r>
            <a:r>
              <a:rPr lang="en-US" altLang="zh-CN" sz="2400" dirty="0" err="1"/>
              <a:t>bilibili</a:t>
            </a:r>
            <a:r>
              <a:rPr lang="zh-CN" altLang="en-US" sz="2400" dirty="0"/>
              <a:t>为例）</a:t>
            </a:r>
            <a:endParaRPr lang="en-US" altLang="zh-CN" sz="2400" dirty="0"/>
          </a:p>
          <a:p>
            <a:pPr marL="342900" indent="-342900">
              <a:buFontTx/>
              <a:buAutoNum type="arabicPeriod"/>
            </a:pPr>
            <a:r>
              <a:rPr lang="zh-CN" altLang="en-US" sz="2400" dirty="0"/>
              <a:t>对于</a:t>
            </a:r>
            <a:r>
              <a:rPr lang="en-US" altLang="zh-CN" sz="2400" dirty="0" err="1"/>
              <a:t>fio</a:t>
            </a:r>
            <a:r>
              <a:rPr lang="zh-CN" altLang="en-US" sz="2400" dirty="0"/>
              <a:t>的再调研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调研部分关于预取加速的论文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针对低端机器是否有优化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目前的想法以及部分可能存在的问题以及测试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9417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59708B-5C45-A67F-8921-251B6B855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3674189"/>
            <a:ext cx="11761905" cy="28571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D52859-7F24-0BCB-73E5-7D16146467ED}"/>
              </a:ext>
            </a:extLst>
          </p:cNvPr>
          <p:cNvSpPr txBox="1"/>
          <p:nvPr/>
        </p:nvSpPr>
        <p:spPr>
          <a:xfrm>
            <a:off x="1336963" y="3304857"/>
            <a:ext cx="480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</a:t>
            </a:r>
            <a:r>
              <a:rPr lang="en-US" altLang="zh-CN" dirty="0" err="1"/>
              <a:t>pagecache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070019-5BD5-05B8-0875-5CBC6EB8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3" y="762000"/>
            <a:ext cx="11076190" cy="25428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3C58F9-0C4D-85FB-1FF2-D6C2139E410F}"/>
              </a:ext>
            </a:extLst>
          </p:cNvPr>
          <p:cNvSpPr txBox="1"/>
          <p:nvPr/>
        </p:nvSpPr>
        <p:spPr>
          <a:xfrm>
            <a:off x="1336963" y="208002"/>
            <a:ext cx="480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</a:t>
            </a:r>
            <a:r>
              <a:rPr lang="en-US" altLang="zh-CN" dirty="0" err="1"/>
              <a:t>pagecache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0D4D03-5BF0-3BF6-4206-9621CA28B559}"/>
              </a:ext>
            </a:extLst>
          </p:cNvPr>
          <p:cNvSpPr txBox="1"/>
          <p:nvPr/>
        </p:nvSpPr>
        <p:spPr>
          <a:xfrm>
            <a:off x="4578928" y="208002"/>
            <a:ext cx="657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这里发现一个很有意思的地方，如果启动了</a:t>
            </a:r>
            <a:r>
              <a:rPr lang="en-US" altLang="zh-CN" dirty="0" err="1"/>
              <a:t>ctrace</a:t>
            </a:r>
            <a:r>
              <a:rPr lang="zh-CN" altLang="en-US" dirty="0"/>
              <a:t>，速度会变快</a:t>
            </a:r>
          </a:p>
        </p:txBody>
      </p:sp>
    </p:spTree>
    <p:extLst>
      <p:ext uri="{BB962C8B-B14F-4D97-AF65-F5344CB8AC3E}">
        <p14:creationId xmlns:p14="http://schemas.microsoft.com/office/powerpoint/2010/main" val="305752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70C7D65-EBA2-4A47-FAFD-E488B5F2B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85" y="743405"/>
            <a:ext cx="8618623" cy="29535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4C19C-21D3-4F22-3824-12383CA2E67F}"/>
              </a:ext>
            </a:extLst>
          </p:cNvPr>
          <p:cNvSpPr txBox="1"/>
          <p:nvPr/>
        </p:nvSpPr>
        <p:spPr>
          <a:xfrm>
            <a:off x="142008" y="182305"/>
            <a:ext cx="6622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分析应用占比情况（以</a:t>
            </a:r>
            <a:r>
              <a:rPr lang="en-US" altLang="zh-CN" sz="2400" dirty="0" err="1"/>
              <a:t>bilibili</a:t>
            </a:r>
            <a:r>
              <a:rPr lang="zh-CN" altLang="en-US" sz="2400" dirty="0"/>
              <a:t>为例）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82EF46-6B60-5051-B924-2B59AEC9D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27" y="3796413"/>
            <a:ext cx="5052916" cy="296460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7FDE1DA-F578-A34B-9A43-FA0CB09FB609}"/>
              </a:ext>
            </a:extLst>
          </p:cNvPr>
          <p:cNvSpPr txBox="1"/>
          <p:nvPr/>
        </p:nvSpPr>
        <p:spPr>
          <a:xfrm>
            <a:off x="1669472" y="4460840"/>
            <a:ext cx="3567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除了</a:t>
            </a:r>
            <a:r>
              <a:rPr lang="en-US" altLang="zh-CN" sz="2400" dirty="0" err="1"/>
              <a:t>apk</a:t>
            </a:r>
            <a:r>
              <a:rPr lang="zh-CN" altLang="en-US" sz="2400" dirty="0"/>
              <a:t>以外，代码获取的其他文件路径位置都在</a:t>
            </a:r>
            <a:r>
              <a:rPr lang="en-US" altLang="zh-CN" sz="2400" dirty="0"/>
              <a:t>lib/arm64</a:t>
            </a:r>
            <a:r>
              <a:rPr lang="zh-CN" altLang="en-US" sz="2400" dirty="0"/>
              <a:t>下</a:t>
            </a:r>
          </a:p>
        </p:txBody>
      </p:sp>
    </p:spTree>
    <p:extLst>
      <p:ext uri="{BB962C8B-B14F-4D97-AF65-F5344CB8AC3E}">
        <p14:creationId xmlns:p14="http://schemas.microsoft.com/office/powerpoint/2010/main" val="216972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2EC5BC-5696-1E07-6204-CBA1B11ED983}"/>
              </a:ext>
            </a:extLst>
          </p:cNvPr>
          <p:cNvSpPr txBox="1"/>
          <p:nvPr/>
        </p:nvSpPr>
        <p:spPr>
          <a:xfrm>
            <a:off x="637309" y="304800"/>
            <a:ext cx="5652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启动过程中究竟访问了哪些文件？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ftrace</a:t>
            </a:r>
            <a:r>
              <a:rPr lang="zh-CN" altLang="en-US" dirty="0"/>
              <a:t>的命令进行追踪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FE02DD-9563-5E2C-EAFF-183612F1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" y="1545478"/>
            <a:ext cx="7161663" cy="44258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21A9F62-C570-DA52-2458-E0C682E569F0}"/>
              </a:ext>
            </a:extLst>
          </p:cNvPr>
          <p:cNvSpPr txBox="1"/>
          <p:nvPr/>
        </p:nvSpPr>
        <p:spPr>
          <a:xfrm>
            <a:off x="8596746" y="2618509"/>
            <a:ext cx="2667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此处追踪的是启动</a:t>
            </a:r>
            <a:r>
              <a:rPr lang="en-US" altLang="zh-CN" dirty="0" err="1"/>
              <a:t>bilibili</a:t>
            </a:r>
            <a:r>
              <a:rPr lang="zh-CN" altLang="en-US" dirty="0"/>
              <a:t>的时候的文件打开顺序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这只是代表文件被打开，但似乎并不代表发生了</a:t>
            </a:r>
            <a:r>
              <a:rPr lang="en-US" altLang="zh-CN" dirty="0"/>
              <a:t>IO</a:t>
            </a:r>
            <a:r>
              <a:rPr lang="zh-CN" altLang="en-US" dirty="0"/>
              <a:t>，这方面的概念还需要明晰。</a:t>
            </a:r>
          </a:p>
        </p:txBody>
      </p:sp>
    </p:spTree>
    <p:extLst>
      <p:ext uri="{BB962C8B-B14F-4D97-AF65-F5344CB8AC3E}">
        <p14:creationId xmlns:p14="http://schemas.microsoft.com/office/powerpoint/2010/main" val="15017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32D2C1-1DD5-C10F-E265-41A7D0319A2E}"/>
              </a:ext>
            </a:extLst>
          </p:cNvPr>
          <p:cNvSpPr txBox="1"/>
          <p:nvPr/>
        </p:nvSpPr>
        <p:spPr>
          <a:xfrm>
            <a:off x="353291" y="374074"/>
            <a:ext cx="10474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修改之后：通过使用</a:t>
            </a:r>
            <a:r>
              <a:rPr lang="en-US" altLang="zh-CN" dirty="0" err="1"/>
              <a:t>android_fs</a:t>
            </a:r>
            <a:r>
              <a:rPr lang="en-US" altLang="zh-CN" dirty="0"/>
              <a:t> events</a:t>
            </a:r>
            <a:r>
              <a:rPr lang="zh-CN" altLang="en-US" dirty="0"/>
              <a:t>进行追踪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总共追踪了</a:t>
            </a:r>
            <a:r>
              <a:rPr lang="en-US" altLang="zh-CN" dirty="0" err="1"/>
              <a:t>android_fs_dataread_start</a:t>
            </a:r>
            <a:r>
              <a:rPr lang="en-US" altLang="zh-CN" dirty="0"/>
              <a:t> events,</a:t>
            </a:r>
            <a:r>
              <a:rPr lang="zh-CN" altLang="en-US" dirty="0"/>
              <a:t> </a:t>
            </a:r>
            <a:r>
              <a:rPr lang="en-US" altLang="zh-CN" dirty="0" err="1"/>
              <a:t>block_rq_issue</a:t>
            </a:r>
            <a:r>
              <a:rPr lang="en-US" altLang="zh-CN" dirty="0"/>
              <a:t>, f2fs_dataread</a:t>
            </a:r>
            <a:r>
              <a:rPr lang="zh-CN" altLang="en-US" dirty="0"/>
              <a:t>三类，同时将</a:t>
            </a:r>
            <a:r>
              <a:rPr lang="en-US" altLang="zh-CN" dirty="0"/>
              <a:t>memory maps</a:t>
            </a:r>
            <a:r>
              <a:rPr lang="zh-CN" altLang="en-US" dirty="0"/>
              <a:t>纳入考量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30BDCE-3673-3B69-E9C6-5F3F7B08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9" y="1715979"/>
            <a:ext cx="8914286" cy="28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A6D07B3-D930-8062-05F5-09246D64E7AB}"/>
              </a:ext>
            </a:extLst>
          </p:cNvPr>
          <p:cNvSpPr txBox="1"/>
          <p:nvPr/>
        </p:nvSpPr>
        <p:spPr>
          <a:xfrm>
            <a:off x="491836" y="353292"/>
            <a:ext cx="153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Fio</a:t>
            </a:r>
            <a:r>
              <a:rPr lang="zh-CN" altLang="en-US" dirty="0"/>
              <a:t>再调研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8082C5-84F3-7F1D-4DA1-CAA1D2D0C645}"/>
              </a:ext>
            </a:extLst>
          </p:cNvPr>
          <p:cNvSpPr txBox="1"/>
          <p:nvPr/>
        </p:nvSpPr>
        <p:spPr>
          <a:xfrm>
            <a:off x="491836" y="907473"/>
            <a:ext cx="809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经过测试，确实是创建一个大小为</a:t>
            </a:r>
            <a:r>
              <a:rPr lang="en-US" altLang="zh-CN" dirty="0" err="1"/>
              <a:t>test_size</a:t>
            </a:r>
            <a:r>
              <a:rPr lang="zh-CN" altLang="en-US" dirty="0"/>
              <a:t>的文件进行读写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AE700AC-2C7F-E1C3-7DFE-1CDCFA447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09" y="1323690"/>
            <a:ext cx="9742348" cy="553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3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43B46A-AC3C-6F29-A8F4-4F1810D4CE31}"/>
              </a:ext>
            </a:extLst>
          </p:cNvPr>
          <p:cNvSpPr txBox="1"/>
          <p:nvPr/>
        </p:nvSpPr>
        <p:spPr>
          <a:xfrm>
            <a:off x="256310" y="452459"/>
            <a:ext cx="5839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市场低端机面临情况调研（大模型搜索返回结果）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BB0840-3BE3-EFEF-C5C6-072A1EA45C40}"/>
              </a:ext>
            </a:extLst>
          </p:cNvPr>
          <p:cNvSpPr txBox="1"/>
          <p:nvPr/>
        </p:nvSpPr>
        <p:spPr>
          <a:xfrm>
            <a:off x="602673" y="1443841"/>
            <a:ext cx="9448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存储介质老化与碎片化 </a:t>
            </a:r>
            <a:r>
              <a:rPr lang="en-US" altLang="zh-CN" b="1" dirty="0"/>
              <a:t>(I/O Bottleneck):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128GB </a:t>
            </a:r>
            <a:r>
              <a:rPr lang="zh-CN" altLang="en-US" dirty="0"/>
              <a:t>版本的机型通常使用 </a:t>
            </a:r>
            <a:r>
              <a:rPr lang="en-US" altLang="zh-CN" dirty="0"/>
              <a:t>UFS 2.1 </a:t>
            </a:r>
            <a:r>
              <a:rPr lang="zh-CN" altLang="en-US" dirty="0"/>
              <a:t>或 </a:t>
            </a:r>
            <a:r>
              <a:rPr lang="en-US" altLang="zh-CN" dirty="0"/>
              <a:t>UFS 2.2</a:t>
            </a:r>
            <a:r>
              <a:rPr lang="zh-CN" altLang="en-US" dirty="0"/>
              <a:t>。随着使用时间增加，剩余空间变少（尤其当剩余空间低于 </a:t>
            </a:r>
            <a:r>
              <a:rPr lang="en-US" altLang="zh-CN" dirty="0"/>
              <a:t>20% </a:t>
            </a:r>
            <a:r>
              <a:rPr lang="zh-CN" altLang="en-US" dirty="0"/>
              <a:t>时），随机读取性能会急剧下降。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现象： 应用启动时需要从闪存加载大量 </a:t>
            </a:r>
            <a:r>
              <a:rPr lang="en-US" altLang="zh-CN" dirty="0"/>
              <a:t>DEX </a:t>
            </a:r>
            <a:r>
              <a:rPr lang="zh-CN" altLang="en-US" dirty="0"/>
              <a:t>文件和资源，</a:t>
            </a:r>
            <a:r>
              <a:rPr lang="en-US" altLang="zh-CN" dirty="0"/>
              <a:t>I/O </a:t>
            </a:r>
            <a:r>
              <a:rPr lang="zh-CN" altLang="en-US" dirty="0"/>
              <a:t>阻塞是导致白屏时间长的首要原因。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CPU </a:t>
            </a:r>
            <a:r>
              <a:rPr lang="zh-CN" altLang="en-US" b="1" dirty="0"/>
              <a:t>单核爆发性能</a:t>
            </a:r>
            <a:r>
              <a:rPr lang="en-US" altLang="zh-CN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应用启动的主线程（</a:t>
            </a:r>
            <a:r>
              <a:rPr lang="en-US" altLang="zh-CN" dirty="0"/>
              <a:t>UI</a:t>
            </a:r>
            <a:r>
              <a:rPr lang="zh-CN" altLang="en-US" dirty="0"/>
              <a:t>线程）逻辑是串行的。中低端芯片（如麒麟</a:t>
            </a:r>
            <a:r>
              <a:rPr lang="en-US" altLang="zh-CN" dirty="0"/>
              <a:t>710/810/820</a:t>
            </a:r>
            <a:r>
              <a:rPr lang="zh-CN" altLang="en-US" dirty="0"/>
              <a:t>或骁龙</a:t>
            </a:r>
            <a:r>
              <a:rPr lang="en-US" altLang="zh-CN" dirty="0"/>
              <a:t>6/7</a:t>
            </a:r>
            <a:r>
              <a:rPr lang="zh-CN" altLang="en-US" dirty="0"/>
              <a:t>系列）的大核主频较低，处理 </a:t>
            </a:r>
            <a:r>
              <a:rPr lang="en-US" altLang="zh-CN" dirty="0" err="1"/>
              <a:t>Application.onCreate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Activity.onCreate</a:t>
            </a:r>
            <a:r>
              <a:rPr lang="en-US" altLang="zh-CN" dirty="0"/>
              <a:t> </a:t>
            </a:r>
            <a:r>
              <a:rPr lang="zh-CN" altLang="en-US" dirty="0"/>
              <a:t>中的复杂逻辑较慢。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内存带宽与交换 </a:t>
            </a:r>
            <a:r>
              <a:rPr lang="en-US" altLang="zh-CN" b="1" dirty="0"/>
              <a:t>(Memory Thrashing):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8GB </a:t>
            </a:r>
            <a:r>
              <a:rPr lang="zh-CN" altLang="en-US" dirty="0"/>
              <a:t>内存对于同时运行微信、淘宝、抖音等应用较为吃力。系统为了腾出空间启动新应用，必须先进行 </a:t>
            </a:r>
            <a:r>
              <a:rPr lang="en-US" altLang="zh-CN" dirty="0"/>
              <a:t>LMK (Low Memory Killer) </a:t>
            </a:r>
            <a:r>
              <a:rPr lang="zh-CN" altLang="en-US" dirty="0"/>
              <a:t>杀后台或进行 </a:t>
            </a:r>
            <a:r>
              <a:rPr lang="en-US" altLang="zh-CN" dirty="0"/>
              <a:t>Z-RAM </a:t>
            </a:r>
            <a:r>
              <a:rPr lang="zh-CN" altLang="en-US" dirty="0"/>
              <a:t>压缩</a:t>
            </a:r>
            <a:r>
              <a:rPr lang="en-US" altLang="zh-CN" dirty="0"/>
              <a:t>/Swap </a:t>
            </a:r>
            <a:r>
              <a:rPr lang="zh-CN" altLang="en-US" dirty="0"/>
              <a:t>交换。这会产生额外的 </a:t>
            </a:r>
            <a:r>
              <a:rPr lang="en-US" altLang="zh-CN" dirty="0"/>
              <a:t>CPU </a:t>
            </a:r>
            <a:r>
              <a:rPr lang="zh-CN" altLang="en-US" dirty="0"/>
              <a:t>开销和 </a:t>
            </a:r>
            <a:r>
              <a:rPr lang="en-US" altLang="zh-CN" dirty="0"/>
              <a:t>I/O </a:t>
            </a:r>
            <a:r>
              <a:rPr lang="zh-CN" altLang="en-US" dirty="0"/>
              <a:t>等待，导致“点击图标后卡顿一下才响应”。</a:t>
            </a:r>
          </a:p>
        </p:txBody>
      </p:sp>
    </p:spTree>
    <p:extLst>
      <p:ext uri="{BB962C8B-B14F-4D97-AF65-F5344CB8AC3E}">
        <p14:creationId xmlns:p14="http://schemas.microsoft.com/office/powerpoint/2010/main" val="2847088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DC0876-96F3-1B9D-7B03-429C12BE117B}"/>
              </a:ext>
            </a:extLst>
          </p:cNvPr>
          <p:cNvSpPr txBox="1"/>
          <p:nvPr/>
        </p:nvSpPr>
        <p:spPr>
          <a:xfrm>
            <a:off x="367145" y="616527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一些已经有了的优化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7EBEA2-6565-8510-5E21-EC3350C4C258}"/>
              </a:ext>
            </a:extLst>
          </p:cNvPr>
          <p:cNvSpPr txBox="1"/>
          <p:nvPr/>
        </p:nvSpPr>
        <p:spPr>
          <a:xfrm>
            <a:off x="367145" y="1679138"/>
            <a:ext cx="87699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文件系统效率</a:t>
            </a:r>
            <a:r>
              <a:rPr lang="en-US" altLang="zh-C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华为引入了 </a:t>
            </a:r>
            <a:r>
              <a:rPr lang="en-US" altLang="zh-CN" dirty="0"/>
              <a:t>EROFS (Enhanced Read-Only File System)</a:t>
            </a:r>
            <a:r>
              <a:rPr lang="zh-CN" altLang="en-US" dirty="0"/>
              <a:t>。如果应用经过编译优化，系统能以更快的速度读取只读分区，这比传统的 </a:t>
            </a:r>
            <a:r>
              <a:rPr lang="en-US" altLang="zh-CN" dirty="0"/>
              <a:t>EXT4 </a:t>
            </a:r>
            <a:r>
              <a:rPr lang="zh-CN" altLang="en-US" dirty="0"/>
              <a:t>文件系统更有优势。</a:t>
            </a:r>
            <a:endParaRPr lang="en-US" altLang="zh-CN" dirty="0"/>
          </a:p>
          <a:p>
            <a:r>
              <a:rPr lang="zh-CN" altLang="en-US" b="1" dirty="0"/>
              <a:t>预加载机制 </a:t>
            </a:r>
            <a:r>
              <a:rPr lang="en-US" altLang="zh-CN" b="1" dirty="0"/>
              <a:t>(AI Prediction):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系统能否准确预测用户下一个要打开的应用至关重要。如果预测准确，系统会提前将部分资源加载到 </a:t>
            </a:r>
            <a:r>
              <a:rPr lang="en-US" altLang="zh-CN" dirty="0"/>
              <a:t>RAM </a:t>
            </a:r>
            <a:r>
              <a:rPr lang="zh-CN" altLang="en-US" dirty="0"/>
              <a:t>中；如果预测失败，则完全依赖冷启动。</a:t>
            </a:r>
            <a:endParaRPr lang="en-US" altLang="zh-CN" dirty="0"/>
          </a:p>
          <a:p>
            <a:r>
              <a:rPr lang="en-US" altLang="zh-CN" b="1" dirty="0"/>
              <a:t>Ark Compiler (</a:t>
            </a:r>
            <a:r>
              <a:rPr lang="zh-CN" altLang="en-US" b="1" dirty="0"/>
              <a:t>方舟编译器</a:t>
            </a:r>
            <a:r>
              <a:rPr lang="en-US" altLang="zh-CN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静态编译（</a:t>
            </a:r>
            <a:r>
              <a:rPr lang="en-US" altLang="zh-CN" dirty="0"/>
              <a:t>AOT</a:t>
            </a:r>
            <a:r>
              <a:rPr lang="zh-CN" altLang="en-US" dirty="0"/>
              <a:t>）的效率决定了 </a:t>
            </a:r>
            <a:r>
              <a:rPr lang="en-US" altLang="zh-CN" dirty="0"/>
              <a:t>Java </a:t>
            </a:r>
            <a:r>
              <a:rPr lang="zh-CN" altLang="en-US" dirty="0"/>
              <a:t>代码转机器码的速度。如果优化不到位，运行时解释代码会消耗大量 </a:t>
            </a:r>
            <a:r>
              <a:rPr lang="en-US" altLang="zh-CN" dirty="0"/>
              <a:t>CPU </a:t>
            </a:r>
            <a:r>
              <a:rPr lang="zh-CN" altLang="en-US" dirty="0"/>
              <a:t>时间。</a:t>
            </a:r>
          </a:p>
        </p:txBody>
      </p:sp>
    </p:spTree>
    <p:extLst>
      <p:ext uri="{BB962C8B-B14F-4D97-AF65-F5344CB8AC3E}">
        <p14:creationId xmlns:p14="http://schemas.microsoft.com/office/powerpoint/2010/main" val="421991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093136B-605A-6A83-635D-46E7A5C24947}"/>
              </a:ext>
            </a:extLst>
          </p:cNvPr>
          <p:cNvSpPr txBox="1"/>
          <p:nvPr/>
        </p:nvSpPr>
        <p:spPr>
          <a:xfrm>
            <a:off x="374073" y="415636"/>
            <a:ext cx="44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目前可能考虑的优化方法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673041-1894-0238-092E-4B6B0CEA4C6B}"/>
              </a:ext>
            </a:extLst>
          </p:cNvPr>
          <p:cNvSpPr txBox="1"/>
          <p:nvPr/>
        </p:nvSpPr>
        <p:spPr>
          <a:xfrm>
            <a:off x="720436" y="1309255"/>
            <a:ext cx="976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由于内存比较宝贵，无法进行常驻，那么就考虑在</a:t>
            </a:r>
            <a:r>
              <a:rPr lang="en-US" altLang="zh-CN" dirty="0" err="1"/>
              <a:t>ssd</a:t>
            </a:r>
            <a:r>
              <a:rPr lang="zh-CN" altLang="en-US" dirty="0"/>
              <a:t>中建立类似二级缓存的内容，不作预取，只是大块连续的预存</a:t>
            </a:r>
            <a:endParaRPr lang="en-US" altLang="zh-CN" dirty="0"/>
          </a:p>
          <a:p>
            <a:r>
              <a:rPr lang="en-US" altLang="zh-CN" dirty="0"/>
              <a:t>——</a:t>
            </a:r>
            <a:r>
              <a:rPr lang="zh-CN" altLang="en-US" dirty="0"/>
              <a:t>介于此，考虑一种基于 </a:t>
            </a:r>
            <a:r>
              <a:rPr lang="en-US" altLang="zh-CN" dirty="0" err="1"/>
              <a:t>userfaultfd</a:t>
            </a:r>
            <a:r>
              <a:rPr lang="zh-CN" altLang="en-US" dirty="0"/>
              <a:t> 的用户态缺页接管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51298A-CAE1-EDA5-7D3D-6DA11EEFEFCA}"/>
              </a:ext>
            </a:extLst>
          </p:cNvPr>
          <p:cNvSpPr txBox="1"/>
          <p:nvPr/>
        </p:nvSpPr>
        <p:spPr>
          <a:xfrm>
            <a:off x="665019" y="2232585"/>
            <a:ext cx="101068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打包（</a:t>
            </a:r>
            <a:r>
              <a:rPr lang="en-US" altLang="zh-CN" dirty="0"/>
              <a:t>Pack</a:t>
            </a:r>
            <a:r>
              <a:rPr lang="zh-CN" altLang="en-US" dirty="0"/>
              <a:t>）：线下将启动用到的所有 </a:t>
            </a:r>
            <a:r>
              <a:rPr lang="en-US" altLang="zh-CN" dirty="0"/>
              <a:t>.so</a:t>
            </a:r>
            <a:r>
              <a:rPr lang="zh-CN" altLang="en-US" dirty="0"/>
              <a:t>、</a:t>
            </a:r>
            <a:r>
              <a:rPr lang="en-US" altLang="zh-CN" dirty="0"/>
              <a:t>.</a:t>
            </a:r>
            <a:r>
              <a:rPr lang="en-US" altLang="zh-CN" dirty="0" err="1"/>
              <a:t>dex</a:t>
            </a:r>
            <a:r>
              <a:rPr lang="zh-CN" altLang="en-US" dirty="0"/>
              <a:t>、</a:t>
            </a:r>
            <a:r>
              <a:rPr lang="en-US" altLang="zh-CN" dirty="0"/>
              <a:t>.xml </a:t>
            </a:r>
            <a:r>
              <a:rPr lang="zh-CN" altLang="en-US" dirty="0"/>
              <a:t>的热点页（</a:t>
            </a:r>
            <a:r>
              <a:rPr lang="en-US" altLang="zh-CN" dirty="0"/>
              <a:t>Hot Pages</a:t>
            </a:r>
            <a:r>
              <a:rPr lang="zh-CN" altLang="en-US" dirty="0"/>
              <a:t>）（注意不是全文件，只取用到的</a:t>
            </a:r>
            <a:r>
              <a:rPr lang="en-US" altLang="zh-CN" dirty="0"/>
              <a:t>4k</a:t>
            </a:r>
            <a:r>
              <a:rPr lang="zh-CN" altLang="en-US" dirty="0"/>
              <a:t>页）按顺序紧密拼接到一个 </a:t>
            </a:r>
            <a:r>
              <a:rPr lang="en-US" altLang="zh-CN" dirty="0" err="1"/>
              <a:t>BigCache.bin</a:t>
            </a:r>
            <a:r>
              <a:rPr lang="en-US" altLang="zh-CN" dirty="0"/>
              <a:t> </a:t>
            </a:r>
            <a:r>
              <a:rPr lang="zh-CN" altLang="en-US" dirty="0"/>
              <a:t>文件中。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Hook/</a:t>
            </a:r>
            <a:r>
              <a:rPr lang="zh-CN" altLang="en-US" dirty="0"/>
              <a:t>拦截：在应用启动时，利用 </a:t>
            </a:r>
            <a:r>
              <a:rPr lang="en-US" altLang="zh-CN" dirty="0"/>
              <a:t>Linux </a:t>
            </a:r>
            <a:r>
              <a:rPr lang="zh-CN" altLang="en-US" dirty="0"/>
              <a:t>的 </a:t>
            </a:r>
            <a:r>
              <a:rPr lang="en-US" altLang="zh-CN" dirty="0" err="1"/>
              <a:t>userfaultfd</a:t>
            </a:r>
            <a:r>
              <a:rPr lang="en-US" altLang="zh-CN" dirty="0"/>
              <a:t> </a:t>
            </a:r>
            <a:r>
              <a:rPr lang="zh-CN" altLang="en-US" dirty="0"/>
              <a:t>特性（或者通过 </a:t>
            </a:r>
            <a:r>
              <a:rPr lang="en-US" altLang="zh-CN" dirty="0"/>
              <a:t>PLT Hook </a:t>
            </a:r>
            <a:r>
              <a:rPr lang="zh-CN" altLang="en-US" dirty="0"/>
              <a:t>拦截 </a:t>
            </a:r>
            <a:r>
              <a:rPr lang="en-US" altLang="zh-CN" dirty="0" err="1"/>
              <a:t>mmap</a:t>
            </a:r>
            <a:r>
              <a:rPr lang="zh-CN" altLang="en-US" dirty="0"/>
              <a:t>）。当应用尝试加载 </a:t>
            </a:r>
            <a:r>
              <a:rPr lang="en-US" altLang="zh-CN" dirty="0"/>
              <a:t>liba.so </a:t>
            </a:r>
            <a:r>
              <a:rPr lang="zh-CN" altLang="en-US" dirty="0"/>
              <a:t>时，你并不真正加载那个文件，而是保留一块匿名内存，并注册 </a:t>
            </a:r>
            <a:r>
              <a:rPr lang="en-US" altLang="zh-CN" dirty="0" err="1"/>
              <a:t>userfaultfd</a:t>
            </a:r>
            <a:r>
              <a:rPr lang="en-US" altLang="zh-CN" dirty="0"/>
              <a:t> </a:t>
            </a:r>
            <a:r>
              <a:rPr lang="zh-CN" altLang="en-US" dirty="0"/>
              <a:t>监听。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按需填充（</a:t>
            </a:r>
            <a:r>
              <a:rPr lang="en-US" altLang="zh-CN" dirty="0"/>
              <a:t>Demand Paging via Sequential Read</a:t>
            </a:r>
            <a:r>
              <a:rPr lang="zh-CN" altLang="en-US" dirty="0"/>
              <a:t>）：当应用执行代码触发缺页中断时，内核暂停应用线程，唤醒你的 </a:t>
            </a:r>
            <a:r>
              <a:rPr lang="en-US" altLang="zh-CN" dirty="0"/>
              <a:t>Handler </a:t>
            </a:r>
            <a:r>
              <a:rPr lang="zh-CN" altLang="en-US" dirty="0"/>
              <a:t>线程。你的 </a:t>
            </a:r>
            <a:r>
              <a:rPr lang="en-US" altLang="zh-CN" dirty="0"/>
              <a:t>Handler </a:t>
            </a:r>
            <a:r>
              <a:rPr lang="zh-CN" altLang="en-US" dirty="0"/>
              <a:t>线程已经在后台通过大块顺序 </a:t>
            </a:r>
            <a:r>
              <a:rPr lang="en-US" altLang="zh-CN" dirty="0"/>
              <a:t>I/O </a:t>
            </a:r>
            <a:r>
              <a:rPr lang="zh-CN" altLang="en-US" dirty="0"/>
              <a:t>把 </a:t>
            </a:r>
            <a:r>
              <a:rPr lang="en-US" altLang="zh-CN" dirty="0" err="1"/>
              <a:t>BigCache.bin</a:t>
            </a:r>
            <a:r>
              <a:rPr lang="en-US" altLang="zh-CN" dirty="0"/>
              <a:t> </a:t>
            </a:r>
            <a:r>
              <a:rPr lang="zh-CN" altLang="en-US" dirty="0"/>
              <a:t>读进来了。你直接通过 </a:t>
            </a:r>
            <a:r>
              <a:rPr lang="en-US" altLang="zh-CN" dirty="0" err="1"/>
              <a:t>ioctl</a:t>
            </a:r>
            <a:r>
              <a:rPr lang="en-US" altLang="zh-CN" dirty="0"/>
              <a:t> </a:t>
            </a:r>
            <a:r>
              <a:rPr lang="zh-CN" altLang="en-US" dirty="0"/>
              <a:t>将数据从你的 </a:t>
            </a:r>
            <a:r>
              <a:rPr lang="en-US" altLang="zh-CN" dirty="0"/>
              <a:t>Buffer </a:t>
            </a:r>
            <a:r>
              <a:rPr lang="zh-CN" altLang="en-US" dirty="0"/>
              <a:t>拷贝到应用原本应该加载 </a:t>
            </a:r>
            <a:r>
              <a:rPr lang="en-US" altLang="zh-CN" dirty="0"/>
              <a:t>liba.so </a:t>
            </a:r>
            <a:r>
              <a:rPr lang="zh-CN" altLang="en-US" dirty="0"/>
              <a:t>的内存地址。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r>
              <a:rPr lang="zh-CN" altLang="en-US" dirty="0"/>
              <a:t>问题：</a:t>
            </a:r>
            <a:r>
              <a:rPr lang="en-US" altLang="zh-CN" dirty="0" err="1"/>
              <a:t>userfaultfd</a:t>
            </a:r>
            <a:r>
              <a:rPr lang="zh-CN" altLang="en-US" dirty="0"/>
              <a:t>主要针对了用户态的内容，使用了</a:t>
            </a:r>
            <a:r>
              <a:rPr lang="en-US" altLang="zh-CN" dirty="0" err="1"/>
              <a:t>linux</a:t>
            </a:r>
            <a:r>
              <a:rPr lang="zh-CN" altLang="en-US" dirty="0"/>
              <a:t>内核所提供的接口完成，从某种程度上其实不算对于文件系统内核的修改。安卓系统不一定可用（鸿蒙不清楚）</a:t>
            </a:r>
          </a:p>
        </p:txBody>
      </p:sp>
    </p:spTree>
    <p:extLst>
      <p:ext uri="{BB962C8B-B14F-4D97-AF65-F5344CB8AC3E}">
        <p14:creationId xmlns:p14="http://schemas.microsoft.com/office/powerpoint/2010/main" val="393714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8A689-46EC-A6ED-CE3B-7C23A85B1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1340716"/>
            <a:ext cx="10515600" cy="4351338"/>
          </a:xfrm>
        </p:spPr>
        <p:txBody>
          <a:bodyPr/>
          <a:lstStyle/>
          <a:p>
            <a:r>
              <a:rPr lang="zh-CN" altLang="en-US" dirty="0"/>
              <a:t>可以尝试先做个实验？假定现在是</a:t>
            </a:r>
            <a:r>
              <a:rPr lang="en-US" altLang="zh-CN" b="1" dirty="0" err="1"/>
              <a:t>base.vdex</a:t>
            </a:r>
            <a:r>
              <a:rPr lang="zh-CN" altLang="en-US" dirty="0"/>
              <a:t>文件的读取带来的时间（后续可以确定一下），本身访问的连续性是否大</a:t>
            </a:r>
            <a:endParaRPr lang="en-US" altLang="zh-CN" dirty="0"/>
          </a:p>
          <a:p>
            <a:r>
              <a:rPr lang="zh-CN" altLang="en-US" dirty="0"/>
              <a:t>虽然读</a:t>
            </a:r>
            <a:r>
              <a:rPr lang="en-US" altLang="zh-CN" dirty="0"/>
              <a:t>4K</a:t>
            </a:r>
            <a:r>
              <a:rPr lang="zh-CN" altLang="en-US" dirty="0"/>
              <a:t>，如果读了</a:t>
            </a:r>
            <a:r>
              <a:rPr lang="en-US" altLang="zh-CN" dirty="0"/>
              <a:t>16K</a:t>
            </a:r>
            <a:r>
              <a:rPr lang="zh-CN" altLang="en-US" dirty="0"/>
              <a:t>还是直接读到</a:t>
            </a:r>
            <a:r>
              <a:rPr lang="en-US" altLang="zh-CN" dirty="0" err="1"/>
              <a:t>pagecache</a:t>
            </a:r>
            <a:r>
              <a:rPr lang="zh-CN" altLang="en-US" dirty="0"/>
              <a:t>的话，也可以更好（调研）</a:t>
            </a:r>
            <a:endParaRPr lang="en-US" altLang="zh-CN" dirty="0"/>
          </a:p>
          <a:p>
            <a:r>
              <a:rPr lang="zh-CN" altLang="en-US" dirty="0"/>
              <a:t>做一个点图，以</a:t>
            </a:r>
            <a:r>
              <a:rPr lang="en-US" altLang="zh-CN" dirty="0"/>
              <a:t>K</a:t>
            </a:r>
            <a:r>
              <a:rPr lang="zh-CN" altLang="en-US" dirty="0"/>
              <a:t>为单位，用点图看是否密集，或者其他代码看看是否连续</a:t>
            </a:r>
            <a:endParaRPr lang="en-US" altLang="zh-CN" dirty="0"/>
          </a:p>
          <a:p>
            <a:r>
              <a:rPr lang="zh-CN" altLang="en-US" dirty="0"/>
              <a:t>验证一下小的顺序读和大的顺序读性能差距是否大（背景）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7254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954</Words>
  <Application>Microsoft Office PowerPoint</Application>
  <PresentationFormat>宽屏</PresentationFormat>
  <Paragraphs>52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昊骋 卢</dc:creator>
  <cp:lastModifiedBy>昊骋 卢</cp:lastModifiedBy>
  <cp:revision>4</cp:revision>
  <dcterms:created xsi:type="dcterms:W3CDTF">2026-01-27T07:52:12Z</dcterms:created>
  <dcterms:modified xsi:type="dcterms:W3CDTF">2026-01-30T09:34:35Z</dcterms:modified>
</cp:coreProperties>
</file>