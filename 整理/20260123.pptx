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4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80705-E729-7608-4C9B-FDE15FE75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3C58F07-7653-90B0-4D01-51328649E0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1E6FD1-F9FA-B8C2-9EC9-246A81964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840F-D756-4B29-90B9-2DA0FB930441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806D45-5303-9C0C-C52C-9EFD51CB7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D5D199-2F29-6F74-2E52-348DFAD13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D2F6-1D3A-4608-83BC-FBF649AE2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94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00DB06-15F7-A03D-57A7-AC9047C7F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3D4A65-992E-4E5B-0E93-7D31AA81C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BBDC8A-F49B-E11A-2615-E36C4165D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840F-D756-4B29-90B9-2DA0FB930441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AE8B21-5AF8-76D0-47E4-ED52E441F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FCB961-EE48-FBB0-8BE6-581D823A4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D2F6-1D3A-4608-83BC-FBF649AE2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818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1C4C3-6107-510B-9679-E3C38E006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742175-8E30-74A2-4A91-CCB4FA81A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988738-BB9B-BF1C-799F-524A41321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840F-D756-4B29-90B9-2DA0FB930441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064103-D917-C480-FFC9-7C3E20A01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7CCAB1-F45D-316A-4801-7872A9AB0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D2F6-1D3A-4608-83BC-FBF649AE2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480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28C49D-DFE7-AF7A-FE16-B55B0B520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87AFB3-5C89-EF95-DAEC-6B0841E5D5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D8EB71-827C-2F40-9683-3DC990603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7336A8-E863-6EF1-74A7-FF9B4C70F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840F-D756-4B29-90B9-2DA0FB930441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0C5A88-BCB5-1F72-013A-9BEB3059C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0F823E-632A-5111-BE04-661FE7C2E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D2F6-1D3A-4608-83BC-FBF649AE2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644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C18DC-95BD-56A9-A2A8-2573CE211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C86AB8-2F83-64A8-3B96-BE9262DC3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C81231-13B4-4304-1C53-F574140A2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A06AB3C-B2B6-0967-AF86-DF64B8323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F42570D-5830-9B69-CBCF-3B061420AB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B740F67-EFA7-1EC1-2633-B0736F631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840F-D756-4B29-90B9-2DA0FB930441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CFFFBC8-A0E3-8EB7-4735-FC5DA6914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53408F0-DF1B-6AA6-670A-18484CA54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D2F6-1D3A-4608-83BC-FBF649AE2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937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662F67-07CE-E968-733E-BE5AEE101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165B566-C822-6ABE-7C8A-9A9550027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840F-D756-4B29-90B9-2DA0FB930441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8C7706-F132-B4FC-F5D5-76362B9B2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865FF96-6FA1-5E4C-322D-5561EB9C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D2F6-1D3A-4608-83BC-FBF649AE2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707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28D7559-5A81-E642-CEEB-956706A18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840F-D756-4B29-90B9-2DA0FB930441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1779EA-8F0E-BE5C-9671-EA89DE995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713902-B861-7D8C-EBAA-93C2CB6F4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D2F6-1D3A-4608-83BC-FBF649AE2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56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614C9F-2C9D-D9A6-F7BA-31B994834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6DCED3-F21E-F4B3-57E2-F5AF3A19E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929413-F6AC-7DE8-EAC3-04BC99704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934B45-32A5-CE20-E4FE-8352AE892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840F-D756-4B29-90B9-2DA0FB930441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98F303-F614-1C55-529F-31698C4F3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4AE557-31B6-E35D-852E-E0D04C1BA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D2F6-1D3A-4608-83BC-FBF649AE2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998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00949C-80DC-14EB-E298-A52F40D72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E715910-EA1E-0C56-0A44-5AFC3B6937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656EF7D-C31C-C38B-3492-5B2DAF157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295D10-92EE-180E-7C1B-B6DECA0E6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840F-D756-4B29-90B9-2DA0FB930441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649ADA-430A-48CE-9BB0-A4658BE6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402A77-9D15-6FA6-949B-BED175DA1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D2F6-1D3A-4608-83BC-FBF649AE2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881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C593F2-3A3E-CE97-449F-78E860BEC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6C8281-C7D9-2C11-BC03-44B3A59D3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E395E9-D43B-5138-EBA5-EAF0B9C65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840F-D756-4B29-90B9-2DA0FB930441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DB8B6C-6A0F-4A9B-6982-EFC8FC29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A89DD0-DF11-2BD8-6828-CEED8EEC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D2F6-1D3A-4608-83BC-FBF649AE2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736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977373A-40C0-28B5-6212-85BEFE274D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81C9DD-AE21-9971-B1DB-266F91E32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A668E9-B9CF-E603-D517-A4A5EBBAF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F840F-D756-4B29-90B9-2DA0FB930441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334861-2298-692B-D27A-F1B253F52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172996-95A9-2B17-E1A3-CA0F83EC7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6D2F6-1D3A-4608-83BC-FBF649AE2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73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1A78C7E-0A8E-DE96-E303-C414C228A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D321DA-D348-B112-8002-397CE7DE7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644A43-85AC-7C6C-E820-57487052D2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3F840F-D756-4B29-90B9-2DA0FB930441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AABB27-508C-13CA-DA29-7BDF0409C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B2E58C-4886-8951-0D0F-F1A509D43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6D2F6-1D3A-4608-83BC-FBF649AE2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423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C00EBD6-AEF5-A498-AF0F-A1F7458C40E3}"/>
              </a:ext>
            </a:extLst>
          </p:cNvPr>
          <p:cNvSpPr txBox="1"/>
          <p:nvPr/>
        </p:nvSpPr>
        <p:spPr>
          <a:xfrm>
            <a:off x="838200" y="2521059"/>
            <a:ext cx="63869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本周任务：</a:t>
            </a:r>
            <a:endParaRPr lang="en-US" altLang="zh-CN" sz="2800" dirty="0"/>
          </a:p>
          <a:p>
            <a:pPr marL="342900" indent="-342900">
              <a:buAutoNum type="arabicPeriod"/>
            </a:pPr>
            <a:r>
              <a:rPr lang="zh-CN" altLang="en-US" sz="2800" dirty="0"/>
              <a:t>测试</a:t>
            </a:r>
            <a:r>
              <a:rPr lang="en-US" altLang="zh-CN" sz="2800" dirty="0"/>
              <a:t>IO</a:t>
            </a:r>
            <a:r>
              <a:rPr lang="zh-CN" altLang="en-US" sz="2800" dirty="0"/>
              <a:t>性能，</a:t>
            </a:r>
            <a:r>
              <a:rPr lang="en-US" altLang="zh-CN" sz="2800" dirty="0"/>
              <a:t>Perfetto</a:t>
            </a:r>
          </a:p>
          <a:p>
            <a:pPr marL="342900" indent="-342900">
              <a:buAutoNum type="arabicPeriod"/>
            </a:pPr>
            <a:r>
              <a:rPr lang="en-US" altLang="zh-CN" sz="2800" dirty="0"/>
              <a:t>Fio</a:t>
            </a:r>
            <a:r>
              <a:rPr lang="zh-CN" altLang="en-US" sz="2800" dirty="0"/>
              <a:t>测试</a:t>
            </a:r>
            <a:endParaRPr lang="en-US" altLang="zh-CN" sz="2800" dirty="0"/>
          </a:p>
          <a:p>
            <a:pPr marL="342900" indent="-342900">
              <a:buAutoNum type="arabicPeriod"/>
            </a:pPr>
            <a:r>
              <a:rPr lang="zh-CN" altLang="en-US" sz="2800" dirty="0"/>
              <a:t>代码学习</a:t>
            </a:r>
          </a:p>
        </p:txBody>
      </p:sp>
    </p:spTree>
    <p:extLst>
      <p:ext uri="{BB962C8B-B14F-4D97-AF65-F5344CB8AC3E}">
        <p14:creationId xmlns:p14="http://schemas.microsoft.com/office/powerpoint/2010/main" val="1539316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9A818FF-7680-E46F-5DE2-E7688DDE18F5}"/>
              </a:ext>
            </a:extLst>
          </p:cNvPr>
          <p:cNvSpPr txBox="1"/>
          <p:nvPr/>
        </p:nvSpPr>
        <p:spPr>
          <a:xfrm>
            <a:off x="436418" y="374072"/>
            <a:ext cx="4793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Mate 40 pro</a:t>
            </a:r>
            <a:r>
              <a:rPr lang="zh-CN" altLang="en-US" sz="2400" b="1" dirty="0"/>
              <a:t>测试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3F74D3-6FA9-6AD0-0310-BEE79714A861}"/>
              </a:ext>
            </a:extLst>
          </p:cNvPr>
          <p:cNvSpPr txBox="1"/>
          <p:nvPr/>
        </p:nvSpPr>
        <p:spPr>
          <a:xfrm>
            <a:off x="436417" y="972281"/>
            <a:ext cx="105502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000" b="1" dirty="0"/>
              <a:t>error writing to /sys/kernel/debug/tracing/options/record-</a:t>
            </a:r>
            <a:r>
              <a:rPr lang="en-US" altLang="zh-CN" sz="2000" b="1" dirty="0" err="1"/>
              <a:t>tgid</a:t>
            </a:r>
            <a:r>
              <a:rPr lang="en-US" altLang="zh-CN" sz="2000" b="1" dirty="0"/>
              <a:t>: Out of memory (12)</a:t>
            </a:r>
          </a:p>
          <a:p>
            <a:pPr>
              <a:buNone/>
            </a:pPr>
            <a:r>
              <a:rPr lang="en-US" altLang="zh-CN" sz="2000" b="1" dirty="0"/>
              <a:t>unable to start tracing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875CFE-044B-0CD3-3A2C-380C3978FA00}"/>
              </a:ext>
            </a:extLst>
          </p:cNvPr>
          <p:cNvSpPr txBox="1"/>
          <p:nvPr/>
        </p:nvSpPr>
        <p:spPr>
          <a:xfrm>
            <a:off x="436417" y="1855625"/>
            <a:ext cx="676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重启测试之后：</a:t>
            </a: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F5BEE6A6-1BD8-5F6B-295C-A048D5097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637" y="2477366"/>
            <a:ext cx="10372725" cy="1085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DC563470-7ACD-7841-BC52-ABD84A597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17" y="3996886"/>
            <a:ext cx="54006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18B6B3EA-B7D7-AF75-101E-938EDAF96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873" y="3713018"/>
            <a:ext cx="5457825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5542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82A94EF-78CA-BF25-6AEE-26E45BECAB98}"/>
              </a:ext>
            </a:extLst>
          </p:cNvPr>
          <p:cNvSpPr txBox="1"/>
          <p:nvPr/>
        </p:nvSpPr>
        <p:spPr>
          <a:xfrm>
            <a:off x="138546" y="103909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Day 2</a:t>
            </a:r>
            <a:endParaRPr lang="zh-CN" altLang="en-US" dirty="0"/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D0A6E463-AF9D-3250-2584-5EFD441B2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782" y="665018"/>
            <a:ext cx="862965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40F288D-702E-FE22-5C79-7465CCF72945}"/>
              </a:ext>
            </a:extLst>
          </p:cNvPr>
          <p:cNvSpPr txBox="1"/>
          <p:nvPr/>
        </p:nvSpPr>
        <p:spPr>
          <a:xfrm>
            <a:off x="706580" y="3247889"/>
            <a:ext cx="107788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整体启动快了很多（</a:t>
            </a:r>
            <a:r>
              <a:rPr lang="en-US" altLang="zh-CN" dirty="0"/>
              <a:t>2.3s</a:t>
            </a:r>
            <a:r>
              <a:rPr lang="en-US" altLang="zh-CN" dirty="0">
                <a:sym typeface="Wingdings" panose="05000000000000000000" pitchFamily="2" charset="2"/>
              </a:rPr>
              <a:t>1.7s</a:t>
            </a:r>
            <a:r>
              <a:rPr lang="zh-CN" altLang="en-US" dirty="0"/>
              <a:t>），同时</a:t>
            </a:r>
            <a:r>
              <a:rPr lang="en-US" altLang="zh-CN" dirty="0"/>
              <a:t>IO</a:t>
            </a:r>
            <a:r>
              <a:rPr lang="zh-CN" altLang="en-US" dirty="0"/>
              <a:t>几乎看不到了，甚至比之前那个</a:t>
            </a:r>
            <a:r>
              <a:rPr lang="en-US" altLang="zh-CN" dirty="0"/>
              <a:t>pura 70pro</a:t>
            </a:r>
            <a:r>
              <a:rPr lang="zh-CN" altLang="en-US" dirty="0"/>
              <a:t>要好，这是什么情况呢？目前推测可能是因为</a:t>
            </a:r>
            <a:r>
              <a:rPr lang="en-US" altLang="zh-CN" dirty="0" err="1"/>
              <a:t>pagecache</a:t>
            </a:r>
            <a:r>
              <a:rPr lang="zh-CN" altLang="en-US" dirty="0"/>
              <a:t>直接命中了，所以导致没有卡顿了。</a:t>
            </a:r>
            <a:endParaRPr lang="en-US" altLang="zh-CN" dirty="0"/>
          </a:p>
          <a:p>
            <a:pPr>
              <a:buNone/>
            </a:pPr>
            <a:r>
              <a:rPr lang="zh-CN" altLang="en-US" b="1" dirty="0"/>
              <a:t>目前卡顿现象无法复现，还是不知道什么情况下会造成卡顿的现象，可能要别的应用多用一会儿？</a:t>
            </a:r>
            <a:endParaRPr lang="zh-CN" altLang="en-US" dirty="0"/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999B9C90-FE94-5EFA-2D09-4F4E90FFF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4253346"/>
            <a:ext cx="525780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909C27E1-0514-6EA7-74F7-000B47D12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964" y="4572000"/>
            <a:ext cx="5286375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E340A011-D4E5-7F80-613D-73A0555A0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964" y="2571019"/>
            <a:ext cx="54006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7557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A2C9BBD-FAF5-4DD7-2B70-33D266936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12" y="3014279"/>
            <a:ext cx="3571429" cy="19142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A2A0E41-733E-8827-A550-B1D73E80C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764" y="3357136"/>
            <a:ext cx="3200000" cy="157142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3C686FE-FA9E-285C-C7F4-233C6E52F4C5}"/>
              </a:ext>
            </a:extLst>
          </p:cNvPr>
          <p:cNvSpPr txBox="1"/>
          <p:nvPr/>
        </p:nvSpPr>
        <p:spPr>
          <a:xfrm>
            <a:off x="1454726" y="577944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出现次数最多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F546533-21EF-81D1-188E-38296CC89D98}"/>
              </a:ext>
            </a:extLst>
          </p:cNvPr>
          <p:cNvCxnSpPr>
            <a:stCxn id="8" idx="0"/>
            <a:endCxn id="5" idx="2"/>
          </p:cNvCxnSpPr>
          <p:nvPr/>
        </p:nvCxnSpPr>
        <p:spPr>
          <a:xfrm flipV="1">
            <a:off x="2369126" y="4928565"/>
            <a:ext cx="1" cy="850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A0262E6A-93A3-F664-D188-20B3EC69B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445" y="3185707"/>
            <a:ext cx="3342857" cy="191428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E1E2807-0D2F-D470-E143-0962D1822D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172" y="285761"/>
            <a:ext cx="3835399" cy="229058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EE3F5CC-7FB3-E657-559B-BD3992C73C40}"/>
              </a:ext>
            </a:extLst>
          </p:cNvPr>
          <p:cNvSpPr txBox="1"/>
          <p:nvPr/>
        </p:nvSpPr>
        <p:spPr>
          <a:xfrm>
            <a:off x="4670571" y="1107887"/>
            <a:ext cx="383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Root</a:t>
            </a:r>
            <a:r>
              <a:rPr lang="zh-CN" altLang="en-US" dirty="0"/>
              <a:t>过后带上</a:t>
            </a:r>
            <a:r>
              <a:rPr lang="en-US" altLang="zh-CN" dirty="0"/>
              <a:t>mmc</a:t>
            </a:r>
            <a:r>
              <a:rPr lang="zh-CN" altLang="en-US" dirty="0"/>
              <a:t>等标识的测试可以看到具体的</a:t>
            </a:r>
            <a:r>
              <a:rPr lang="en-US" altLang="zh-CN" dirty="0" err="1"/>
              <a:t>blocked_function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9994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FD2DA85-814B-3CEF-CA54-842F784D7327}"/>
              </a:ext>
            </a:extLst>
          </p:cNvPr>
          <p:cNvSpPr txBox="1"/>
          <p:nvPr/>
        </p:nvSpPr>
        <p:spPr>
          <a:xfrm>
            <a:off x="680413" y="446425"/>
            <a:ext cx="78347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/>
              <a:t>Lockpage</a:t>
            </a:r>
            <a:r>
              <a:rPr lang="zh-CN" altLang="en-US" sz="2800" dirty="0"/>
              <a:t>是什么</a:t>
            </a:r>
            <a:r>
              <a:rPr lang="en-US" altLang="zh-CN" sz="2800" dirty="0"/>
              <a:t>blocked function?</a:t>
            </a:r>
          </a:p>
          <a:p>
            <a:r>
              <a:rPr lang="zh-CN" altLang="en-US" sz="2800" dirty="0"/>
              <a:t>为什么第二次就没有了？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05EE82-9EB3-CA3A-1A11-74CEF0B34A85}"/>
              </a:ext>
            </a:extLst>
          </p:cNvPr>
          <p:cNvSpPr txBox="1"/>
          <p:nvPr/>
        </p:nvSpPr>
        <p:spPr>
          <a:xfrm>
            <a:off x="389467" y="2115742"/>
            <a:ext cx="331893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GPT</a:t>
            </a:r>
            <a:r>
              <a:rPr lang="zh-CN" altLang="en-US" dirty="0"/>
              <a:t>给出的回答：</a:t>
            </a:r>
            <a:endParaRPr lang="en-US" altLang="zh-CN" dirty="0"/>
          </a:p>
          <a:p>
            <a:r>
              <a:rPr lang="zh-CN" altLang="en-US" dirty="0"/>
              <a:t>用户态访问地址</a:t>
            </a:r>
          </a:p>
          <a:p>
            <a:r>
              <a:rPr lang="zh-CN" altLang="en-US" dirty="0"/>
              <a:t>  ↓</a:t>
            </a:r>
          </a:p>
          <a:p>
            <a:r>
              <a:rPr lang="zh-CN" altLang="en-US" b="1" dirty="0"/>
              <a:t>page fault</a:t>
            </a:r>
          </a:p>
          <a:p>
            <a:r>
              <a:rPr lang="zh-CN" altLang="en-US" dirty="0"/>
              <a:t>  ↓</a:t>
            </a:r>
          </a:p>
          <a:p>
            <a:r>
              <a:rPr lang="zh-CN" altLang="en-US" dirty="0"/>
              <a:t>filemap_fault()</a:t>
            </a:r>
          </a:p>
          <a:p>
            <a:r>
              <a:rPr lang="zh-CN" altLang="en-US" dirty="0"/>
              <a:t>  ↓</a:t>
            </a:r>
          </a:p>
          <a:p>
            <a:r>
              <a:rPr lang="zh-CN" altLang="en-US" dirty="0"/>
              <a:t>find_get_page()</a:t>
            </a:r>
          </a:p>
          <a:p>
            <a:r>
              <a:rPr lang="zh-CN" altLang="en-US" dirty="0"/>
              <a:t>  ↓</a:t>
            </a:r>
          </a:p>
          <a:p>
            <a:r>
              <a:rPr lang="zh-CN" altLang="en-US" b="1" dirty="0"/>
              <a:t>lock_page()</a:t>
            </a:r>
          </a:p>
          <a:p>
            <a:r>
              <a:rPr lang="zh-CN" altLang="en-US" dirty="0"/>
              <a:t>  ↓</a:t>
            </a:r>
          </a:p>
          <a:p>
            <a:r>
              <a:rPr lang="zh-CN" altLang="en-US" dirty="0"/>
              <a:t>如果 page 不在内存：</a:t>
            </a:r>
          </a:p>
          <a:p>
            <a:r>
              <a:rPr lang="zh-CN" altLang="en-US" dirty="0"/>
              <a:t>    submit_bio()   ← 真正 IO</a:t>
            </a:r>
          </a:p>
          <a:p>
            <a:r>
              <a:rPr lang="zh-CN" altLang="en-US" dirty="0"/>
              <a:t>    wait_on_page_locked()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7E41D3F-8962-5DE4-4092-CAA7DDE639C6}"/>
              </a:ext>
            </a:extLst>
          </p:cNvPr>
          <p:cNvSpPr txBox="1"/>
          <p:nvPr/>
        </p:nvSpPr>
        <p:spPr>
          <a:xfrm>
            <a:off x="4893734" y="2151548"/>
            <a:ext cx="5240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也不是所有的</a:t>
            </a:r>
            <a:r>
              <a:rPr lang="en-US" altLang="zh-CN" dirty="0" err="1"/>
              <a:t>page_lock</a:t>
            </a:r>
            <a:r>
              <a:rPr lang="zh-CN" altLang="en-US" dirty="0"/>
              <a:t>都是</a:t>
            </a:r>
            <a:r>
              <a:rPr lang="en-US" altLang="zh-CN" dirty="0" err="1"/>
              <a:t>page_fault</a:t>
            </a:r>
            <a:r>
              <a:rPr lang="zh-CN" altLang="en-US" dirty="0"/>
              <a:t>，只是可能出现的现象。</a:t>
            </a:r>
          </a:p>
        </p:txBody>
      </p:sp>
    </p:spTree>
    <p:extLst>
      <p:ext uri="{BB962C8B-B14F-4D97-AF65-F5344CB8AC3E}">
        <p14:creationId xmlns:p14="http://schemas.microsoft.com/office/powerpoint/2010/main" val="1387391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65500E4-1DA3-F878-BE80-12A27CA5DE32}"/>
              </a:ext>
            </a:extLst>
          </p:cNvPr>
          <p:cNvSpPr txBox="1"/>
          <p:nvPr/>
        </p:nvSpPr>
        <p:spPr>
          <a:xfrm>
            <a:off x="415636" y="401782"/>
            <a:ext cx="381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Mate 20 pro</a:t>
            </a:r>
            <a:endParaRPr lang="zh-CN" altLang="en-US" dirty="0"/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0BED64BF-03B9-EF02-4D60-E3A4E1CB9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818" y="1087581"/>
            <a:ext cx="11014364" cy="1083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CBE4DBF9-DF93-4C4D-5ED8-2AFD9FC09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1597" y="4257546"/>
            <a:ext cx="4714875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D0775ED-7BE2-D759-9F76-EAE6EBE79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34" y="2409501"/>
            <a:ext cx="10542857" cy="1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664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4AE05D3-6172-07FE-2C5A-CF6E132F15A2}"/>
              </a:ext>
            </a:extLst>
          </p:cNvPr>
          <p:cNvSpPr txBox="1"/>
          <p:nvPr/>
        </p:nvSpPr>
        <p:spPr>
          <a:xfrm>
            <a:off x="742758" y="1537084"/>
            <a:ext cx="104586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问题：</a:t>
            </a:r>
            <a:endParaRPr lang="en-US" altLang="zh-CN" sz="2800" dirty="0"/>
          </a:p>
          <a:p>
            <a:pPr marL="342900" indent="-342900">
              <a:buAutoNum type="arabicPeriod"/>
            </a:pPr>
            <a:r>
              <a:rPr lang="zh-CN" altLang="en-US" sz="2800" dirty="0"/>
              <a:t>我在</a:t>
            </a:r>
            <a:r>
              <a:rPr lang="en-US" altLang="zh-CN" sz="2800" dirty="0"/>
              <a:t>mate 40pro</a:t>
            </a:r>
            <a:r>
              <a:rPr lang="zh-CN" altLang="en-US" sz="2800" dirty="0"/>
              <a:t>的手机上重启之后的小红书启动时间从</a:t>
            </a:r>
            <a:r>
              <a:rPr lang="en-US" altLang="zh-CN" sz="2800" dirty="0"/>
              <a:t>6s</a:t>
            </a:r>
            <a:r>
              <a:rPr lang="zh-CN" altLang="en-US" sz="2800" dirty="0"/>
              <a:t>变为了</a:t>
            </a:r>
            <a:r>
              <a:rPr lang="en-US" altLang="zh-CN" sz="2800" dirty="0"/>
              <a:t>1s</a:t>
            </a:r>
            <a:r>
              <a:rPr lang="zh-CN" altLang="en-US" sz="2800" dirty="0"/>
              <a:t>，但是哔哩哔哩在重启之后的第一次启动中时间没有变化，但第二天启动时间就减少了。第二天后续尝试时间都是这么少</a:t>
            </a:r>
            <a:endParaRPr lang="en-US" altLang="zh-CN" sz="2800" dirty="0"/>
          </a:p>
          <a:p>
            <a:pPr marL="342900" indent="-342900">
              <a:buAutoNum type="arabicPeriod"/>
            </a:pPr>
            <a:r>
              <a:rPr lang="zh-CN" altLang="en-US" sz="2800" dirty="0"/>
              <a:t>我想在</a:t>
            </a:r>
            <a:r>
              <a:rPr lang="en-US" altLang="zh-CN" sz="2800" dirty="0"/>
              <a:t>pura70pro</a:t>
            </a:r>
            <a:r>
              <a:rPr lang="zh-CN" altLang="en-US" sz="2800" dirty="0"/>
              <a:t>上验证这个问题，但发现虽然重启之后立刻启动哔哩哔哩时间上会慢一点，但依然没看到明显的</a:t>
            </a:r>
            <a:r>
              <a:rPr lang="en-US" altLang="zh-CN" sz="2800" dirty="0"/>
              <a:t>IO</a:t>
            </a:r>
            <a:r>
              <a:rPr lang="zh-CN" altLang="en-US" sz="2800" dirty="0"/>
              <a:t>问题，可能是硬件性能高的原因？</a:t>
            </a:r>
            <a:endParaRPr lang="en-US" altLang="zh-CN" sz="2800" dirty="0"/>
          </a:p>
          <a:p>
            <a:pPr marL="342900" indent="-342900">
              <a:buAutoNum type="arabicPeriod"/>
            </a:pPr>
            <a:r>
              <a:rPr lang="en-US" altLang="zh-CN" sz="2800" dirty="0"/>
              <a:t>Mate20 pro</a:t>
            </a:r>
            <a:r>
              <a:rPr lang="zh-CN" altLang="en-US" sz="2800" dirty="0"/>
              <a:t>目前没感觉到问题，可能刷机之后微信这些后台应用也没有了，整体使用也比较流畅的。</a:t>
            </a:r>
            <a:endParaRPr lang="en-US" altLang="zh-CN" sz="2800" dirty="0"/>
          </a:p>
          <a:p>
            <a:pPr marL="342900" indent="-342900">
              <a:buAutoNum type="arabicPeriod"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10885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E56DF3C-EB7C-9419-121B-1B047EDBA15B}"/>
              </a:ext>
            </a:extLst>
          </p:cNvPr>
          <p:cNvSpPr txBox="1"/>
          <p:nvPr/>
        </p:nvSpPr>
        <p:spPr>
          <a:xfrm>
            <a:off x="235527" y="249382"/>
            <a:ext cx="3920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pura 70 pro</a:t>
            </a:r>
            <a:r>
              <a:rPr lang="zh-CN" altLang="en-US" sz="2800" b="1" dirty="0"/>
              <a:t>的</a:t>
            </a:r>
            <a:r>
              <a:rPr lang="en-US" altLang="zh-CN" sz="2800" b="1" dirty="0" err="1"/>
              <a:t>fio</a:t>
            </a:r>
            <a:r>
              <a:rPr lang="zh-CN" altLang="en-US" sz="2800" b="1" dirty="0"/>
              <a:t>测试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B29B75-157D-92E6-EC06-5800CB7B67E3}"/>
              </a:ext>
            </a:extLst>
          </p:cNvPr>
          <p:cNvSpPr txBox="1"/>
          <p:nvPr/>
        </p:nvSpPr>
        <p:spPr>
          <a:xfrm>
            <a:off x="235527" y="772602"/>
            <a:ext cx="1100743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dirty="0"/>
              <a:t>总计分为</a:t>
            </a:r>
            <a:r>
              <a:rPr lang="en-US" altLang="zh-CN" sz="2400" dirty="0"/>
              <a:t>2G</a:t>
            </a:r>
            <a:r>
              <a:rPr lang="zh-CN" altLang="en-US" sz="2400" dirty="0"/>
              <a:t>，</a:t>
            </a:r>
            <a:r>
              <a:rPr lang="en-US" altLang="zh-CN" sz="2400" dirty="0"/>
              <a:t>1G</a:t>
            </a:r>
            <a:r>
              <a:rPr lang="zh-CN" altLang="en-US" sz="2400" dirty="0"/>
              <a:t>，</a:t>
            </a:r>
            <a:r>
              <a:rPr lang="en-US" altLang="zh-CN" sz="2400" dirty="0"/>
              <a:t>512M</a:t>
            </a:r>
            <a:r>
              <a:rPr lang="zh-CN" altLang="en-US" sz="2400" dirty="0"/>
              <a:t>的</a:t>
            </a:r>
            <a:r>
              <a:rPr lang="en-US" altLang="zh-CN" sz="2400" dirty="0" err="1"/>
              <a:t>test_size</a:t>
            </a:r>
            <a:r>
              <a:rPr lang="zh-CN" altLang="en-US" sz="2400" dirty="0"/>
              <a:t>大小，写共计</a:t>
            </a:r>
            <a:r>
              <a:rPr lang="en-US" altLang="zh-CN" sz="2400" dirty="0"/>
              <a:t>60s</a:t>
            </a:r>
            <a:r>
              <a:rPr lang="zh-CN" altLang="en-US" sz="2400" dirty="0"/>
              <a:t>测试平均性能，同时在写之前会进行</a:t>
            </a:r>
            <a:r>
              <a:rPr lang="en-US" altLang="zh-CN" sz="2400" dirty="0"/>
              <a:t>4GB</a:t>
            </a:r>
            <a:r>
              <a:rPr lang="zh-CN" altLang="en-US" sz="2400" dirty="0"/>
              <a:t>大小的写确保热身（是否需要？不清楚）</a:t>
            </a:r>
            <a:endParaRPr lang="en-US" altLang="zh-CN" sz="2400" dirty="0"/>
          </a:p>
          <a:p>
            <a:pPr>
              <a:buNone/>
            </a:pPr>
            <a:r>
              <a:rPr lang="zh-CN" altLang="en-US" sz="2400" dirty="0"/>
              <a:t>保证落盘</a:t>
            </a:r>
            <a:r>
              <a:rPr lang="en-US" altLang="zh-CN" sz="2400" dirty="0" err="1"/>
              <a:t>fsync</a:t>
            </a:r>
            <a:r>
              <a:rPr lang="en-US" altLang="zh-CN" sz="2400" dirty="0"/>
              <a:t> = 1</a:t>
            </a:r>
          </a:p>
          <a:p>
            <a:pPr>
              <a:buNone/>
            </a:pPr>
            <a:r>
              <a:rPr lang="zh-CN" altLang="en-US" sz="2400" dirty="0"/>
              <a:t>总体运行指令</a:t>
            </a:r>
            <a:endParaRPr lang="en-US" altLang="zh-CN" sz="2400" dirty="0"/>
          </a:p>
          <a:p>
            <a:r>
              <a:rPr lang="zh-CN" altLang="en-US" sz="2400" dirty="0"/>
              <a:t>读：</a:t>
            </a:r>
            <a:r>
              <a:rPr lang="en-US" altLang="zh-CN" sz="2400" dirty="0">
                <a:effectLst/>
              </a:rPr>
              <a:t>$</a:t>
            </a:r>
            <a:r>
              <a:rPr lang="en-US" altLang="zh-CN" sz="2400" dirty="0" err="1">
                <a:effectLst/>
              </a:rPr>
              <a:t>readCmd</a:t>
            </a:r>
            <a:r>
              <a:rPr lang="en-US" altLang="zh-CN" sz="2400" dirty="0">
                <a:effectLst/>
              </a:rPr>
              <a:t> = "$</a:t>
            </a:r>
            <a:r>
              <a:rPr lang="en-US" altLang="zh-CN" sz="2400" dirty="0" err="1">
                <a:effectLst/>
              </a:rPr>
              <a:t>fioPath</a:t>
            </a:r>
            <a:r>
              <a:rPr lang="en-US" altLang="zh-CN" sz="2400" dirty="0">
                <a:effectLst/>
              </a:rPr>
              <a:t> --name=test --</a:t>
            </a:r>
            <a:r>
              <a:rPr lang="en-US" altLang="zh-CN" sz="2400" dirty="0" err="1">
                <a:effectLst/>
              </a:rPr>
              <a:t>ioengine</a:t>
            </a:r>
            <a:r>
              <a:rPr lang="en-US" altLang="zh-CN" sz="2400" dirty="0">
                <a:effectLst/>
              </a:rPr>
              <a:t>=sync --direct=1 --bs=$bs --size=$</a:t>
            </a:r>
            <a:r>
              <a:rPr lang="en-US" altLang="zh-CN" sz="2400" dirty="0" err="1">
                <a:effectLst/>
              </a:rPr>
              <a:t>testSize</a:t>
            </a:r>
            <a:r>
              <a:rPr lang="en-US" altLang="zh-CN" sz="2400" dirty="0">
                <a:effectLst/>
              </a:rPr>
              <a:t> --</a:t>
            </a:r>
            <a:r>
              <a:rPr lang="en-US" altLang="zh-CN" sz="2400" dirty="0" err="1">
                <a:effectLst/>
              </a:rPr>
              <a:t>numjobs</a:t>
            </a:r>
            <a:r>
              <a:rPr lang="en-US" altLang="zh-CN" sz="2400" dirty="0">
                <a:effectLst/>
              </a:rPr>
              <a:t>=1 --runtime=$runtime --</a:t>
            </a:r>
            <a:r>
              <a:rPr lang="en-US" altLang="zh-CN" sz="2400" dirty="0" err="1">
                <a:effectLst/>
              </a:rPr>
              <a:t>time_based</a:t>
            </a:r>
            <a:r>
              <a:rPr lang="en-US" altLang="zh-CN" sz="2400" dirty="0">
                <a:effectLst/>
              </a:rPr>
              <a:t> --</a:t>
            </a:r>
            <a:r>
              <a:rPr lang="en-US" altLang="zh-CN" sz="2400" dirty="0" err="1">
                <a:effectLst/>
              </a:rPr>
              <a:t>rw</a:t>
            </a:r>
            <a:r>
              <a:rPr lang="en-US" altLang="zh-CN" sz="2400" dirty="0">
                <a:effectLst/>
              </a:rPr>
              <a:t>=</a:t>
            </a:r>
            <a:r>
              <a:rPr lang="en-US" altLang="zh-CN" sz="2400" dirty="0" err="1">
                <a:effectLst/>
              </a:rPr>
              <a:t>randread</a:t>
            </a:r>
            <a:r>
              <a:rPr lang="en-US" altLang="zh-CN" sz="2400" dirty="0">
                <a:effectLst/>
              </a:rPr>
              <a:t> --filename=$</a:t>
            </a:r>
            <a:r>
              <a:rPr lang="en-US" altLang="zh-CN" sz="2400" dirty="0" err="1">
                <a:effectLst/>
              </a:rPr>
              <a:t>testFile</a:t>
            </a:r>
            <a:r>
              <a:rPr lang="en-US" altLang="zh-CN" sz="2400" dirty="0">
                <a:effectLst/>
              </a:rPr>
              <a:t> --output-format=</a:t>
            </a:r>
            <a:r>
              <a:rPr lang="en-US" altLang="zh-CN" sz="2400" dirty="0" err="1">
                <a:effectLst/>
              </a:rPr>
              <a:t>json</a:t>
            </a:r>
            <a:r>
              <a:rPr lang="en-US" altLang="zh-CN" sz="2400" dirty="0">
                <a:effectLst/>
              </a:rPr>
              <a:t>"</a:t>
            </a:r>
          </a:p>
          <a:p>
            <a:r>
              <a:rPr lang="zh-CN" altLang="en-US" sz="2400" dirty="0"/>
              <a:t>写：</a:t>
            </a:r>
            <a:r>
              <a:rPr lang="en-US" altLang="zh-CN" sz="2400" dirty="0">
                <a:effectLst/>
              </a:rPr>
              <a:t>$</a:t>
            </a:r>
            <a:r>
              <a:rPr lang="en-US" altLang="zh-CN" sz="2400" dirty="0" err="1">
                <a:effectLst/>
              </a:rPr>
              <a:t>writeCmd</a:t>
            </a:r>
            <a:r>
              <a:rPr lang="en-US" altLang="zh-CN" sz="2400" dirty="0">
                <a:effectLst/>
              </a:rPr>
              <a:t> = "$</a:t>
            </a:r>
            <a:r>
              <a:rPr lang="en-US" altLang="zh-CN" sz="2400" dirty="0" err="1">
                <a:effectLst/>
              </a:rPr>
              <a:t>fioPath</a:t>
            </a:r>
            <a:r>
              <a:rPr lang="en-US" altLang="zh-CN" sz="2400" dirty="0">
                <a:effectLst/>
              </a:rPr>
              <a:t> --name=test --</a:t>
            </a:r>
            <a:r>
              <a:rPr lang="en-US" altLang="zh-CN" sz="2400" dirty="0" err="1">
                <a:effectLst/>
              </a:rPr>
              <a:t>ioengine</a:t>
            </a:r>
            <a:r>
              <a:rPr lang="en-US" altLang="zh-CN" sz="2400" dirty="0">
                <a:effectLst/>
              </a:rPr>
              <a:t>=sync --direct=1 --</a:t>
            </a:r>
            <a:r>
              <a:rPr lang="en-US" altLang="zh-CN" sz="2400" dirty="0" err="1">
                <a:effectLst/>
              </a:rPr>
              <a:t>fsync</a:t>
            </a:r>
            <a:r>
              <a:rPr lang="en-US" altLang="zh-CN" sz="2400" dirty="0">
                <a:effectLst/>
              </a:rPr>
              <a:t>=1 --bs=$bs --size=$</a:t>
            </a:r>
            <a:r>
              <a:rPr lang="en-US" altLang="zh-CN" sz="2400" dirty="0" err="1">
                <a:effectLst/>
              </a:rPr>
              <a:t>testSize</a:t>
            </a:r>
            <a:r>
              <a:rPr lang="en-US" altLang="zh-CN" sz="2400" dirty="0">
                <a:effectLst/>
              </a:rPr>
              <a:t> --</a:t>
            </a:r>
            <a:r>
              <a:rPr lang="en-US" altLang="zh-CN" sz="2400" dirty="0" err="1">
                <a:effectLst/>
              </a:rPr>
              <a:t>numjobs</a:t>
            </a:r>
            <a:r>
              <a:rPr lang="en-US" altLang="zh-CN" sz="2400" dirty="0">
                <a:effectLst/>
              </a:rPr>
              <a:t>=1 --runtime=$runtime --</a:t>
            </a:r>
            <a:r>
              <a:rPr lang="en-US" altLang="zh-CN" sz="2400" dirty="0" err="1">
                <a:effectLst/>
              </a:rPr>
              <a:t>time_based</a:t>
            </a:r>
            <a:r>
              <a:rPr lang="en-US" altLang="zh-CN" sz="2400" dirty="0">
                <a:effectLst/>
              </a:rPr>
              <a:t> --</a:t>
            </a:r>
            <a:r>
              <a:rPr lang="en-US" altLang="zh-CN" sz="2400" dirty="0" err="1">
                <a:effectLst/>
              </a:rPr>
              <a:t>rw</a:t>
            </a:r>
            <a:r>
              <a:rPr lang="en-US" altLang="zh-CN" sz="2400" dirty="0">
                <a:effectLst/>
              </a:rPr>
              <a:t>=</a:t>
            </a:r>
            <a:r>
              <a:rPr lang="en-US" altLang="zh-CN" sz="2400" dirty="0" err="1">
                <a:effectLst/>
              </a:rPr>
              <a:t>randwrite</a:t>
            </a:r>
            <a:r>
              <a:rPr lang="en-US" altLang="zh-CN" sz="2400" dirty="0">
                <a:effectLst/>
              </a:rPr>
              <a:t> --filename=$</a:t>
            </a:r>
            <a:r>
              <a:rPr lang="en-US" altLang="zh-CN" sz="2400" dirty="0" err="1">
                <a:effectLst/>
              </a:rPr>
              <a:t>testFile</a:t>
            </a:r>
            <a:r>
              <a:rPr lang="en-US" altLang="zh-CN" sz="2400" dirty="0">
                <a:effectLst/>
              </a:rPr>
              <a:t> --output-format=</a:t>
            </a:r>
            <a:r>
              <a:rPr lang="en-US" altLang="zh-CN" sz="2400" dirty="0" err="1">
                <a:effectLst/>
              </a:rPr>
              <a:t>json</a:t>
            </a:r>
            <a:r>
              <a:rPr lang="en-US" altLang="zh-CN" sz="2400" dirty="0">
                <a:effectLst/>
              </a:rPr>
              <a:t>“</a:t>
            </a:r>
          </a:p>
          <a:p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368935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>
            <a:extLst>
              <a:ext uri="{FF2B5EF4-FFF2-40B4-BE49-F238E27FC236}">
                <a16:creationId xmlns:a16="http://schemas.microsoft.com/office/drawing/2014/main" id="{0E5603C1-2411-B7F0-BC8B-7BD708555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97457"/>
            <a:ext cx="4174066" cy="237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>
            <a:extLst>
              <a:ext uri="{FF2B5EF4-FFF2-40B4-BE49-F238E27FC236}">
                <a16:creationId xmlns:a16="http://schemas.microsoft.com/office/drawing/2014/main" id="{3C961F81-918A-315C-C07C-2FA0461A1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159" y="3297457"/>
            <a:ext cx="4039926" cy="229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>
            <a:extLst>
              <a:ext uri="{FF2B5EF4-FFF2-40B4-BE49-F238E27FC236}">
                <a16:creationId xmlns:a16="http://schemas.microsoft.com/office/drawing/2014/main" id="{4FDB5EC6-7575-6603-8825-3CBC5EE93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934" y="3297460"/>
            <a:ext cx="4174066" cy="237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C9B5AEA-C2E5-E132-53A8-19B903F76EB0}"/>
              </a:ext>
            </a:extLst>
          </p:cNvPr>
          <p:cNvSpPr txBox="1"/>
          <p:nvPr/>
        </p:nvSpPr>
        <p:spPr>
          <a:xfrm>
            <a:off x="1773766" y="2556933"/>
            <a:ext cx="626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2G</a:t>
            </a:r>
            <a:endParaRPr lang="zh-CN" altLang="en-US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2EBC70-266E-C78D-114F-DA277EB0B31D}"/>
              </a:ext>
            </a:extLst>
          </p:cNvPr>
          <p:cNvSpPr txBox="1"/>
          <p:nvPr/>
        </p:nvSpPr>
        <p:spPr>
          <a:xfrm>
            <a:off x="5917855" y="2556933"/>
            <a:ext cx="6265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1G</a:t>
            </a:r>
            <a:endParaRPr lang="zh-CN" altLang="en-US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0B4A392-174B-2FBE-0160-AB72B00966B5}"/>
              </a:ext>
            </a:extLst>
          </p:cNvPr>
          <p:cNvSpPr txBox="1"/>
          <p:nvPr/>
        </p:nvSpPr>
        <p:spPr>
          <a:xfrm>
            <a:off x="9584268" y="2556933"/>
            <a:ext cx="1104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512M</a:t>
            </a:r>
            <a:endParaRPr lang="zh-CN" altLang="en-US" sz="2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AF24A5-40F2-330F-6BB6-DC83C3923FB4}"/>
              </a:ext>
            </a:extLst>
          </p:cNvPr>
          <p:cNvSpPr txBox="1"/>
          <p:nvPr/>
        </p:nvSpPr>
        <p:spPr>
          <a:xfrm>
            <a:off x="901355" y="1201784"/>
            <a:ext cx="1003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分析：</a:t>
            </a:r>
            <a:endParaRPr lang="en-US" altLang="zh-CN" sz="2400" dirty="0"/>
          </a:p>
          <a:p>
            <a:r>
              <a:rPr lang="zh-CN" altLang="en-US" sz="2400" dirty="0"/>
              <a:t>问题：目前看下来</a:t>
            </a:r>
            <a:r>
              <a:rPr lang="en-US" altLang="zh-CN" sz="2400" dirty="0"/>
              <a:t>f2fs</a:t>
            </a:r>
            <a:r>
              <a:rPr lang="zh-CN" altLang="en-US" sz="2400" dirty="0"/>
              <a:t>可能还是会以小块随机读取来获取内容（需要验证）</a:t>
            </a:r>
          </a:p>
        </p:txBody>
      </p:sp>
    </p:spTree>
    <p:extLst>
      <p:ext uri="{BB962C8B-B14F-4D97-AF65-F5344CB8AC3E}">
        <p14:creationId xmlns:p14="http://schemas.microsoft.com/office/powerpoint/2010/main" val="1245695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35E0265-7C83-1771-D88B-131209C7951B}"/>
              </a:ext>
            </a:extLst>
          </p:cNvPr>
          <p:cNvSpPr txBox="1"/>
          <p:nvPr/>
        </p:nvSpPr>
        <p:spPr>
          <a:xfrm>
            <a:off x="1230995" y="2023552"/>
            <a:ext cx="98975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总结：</a:t>
            </a:r>
            <a:endParaRPr lang="en-US" altLang="zh-CN" sz="2400" dirty="0"/>
          </a:p>
          <a:p>
            <a:pPr marL="342900" indent="-342900">
              <a:buAutoNum type="arabicPeriod"/>
            </a:pPr>
            <a:r>
              <a:rPr lang="zh-CN" altLang="en-US" sz="2400" dirty="0"/>
              <a:t>目前是否针对启动的</a:t>
            </a:r>
            <a:r>
              <a:rPr lang="en-US" altLang="zh-CN" sz="2400" dirty="0"/>
              <a:t>IO</a:t>
            </a:r>
            <a:r>
              <a:rPr lang="zh-CN" altLang="en-US" sz="2400" dirty="0"/>
              <a:t>问题？</a:t>
            </a:r>
            <a:endParaRPr lang="en-US" altLang="zh-CN" sz="2400" dirty="0"/>
          </a:p>
          <a:p>
            <a:pPr marL="342900" indent="-342900">
              <a:buAutoNum type="arabicPeriod"/>
            </a:pPr>
            <a:r>
              <a:rPr lang="zh-CN" altLang="en-US" sz="2400" dirty="0"/>
              <a:t>如果针对的是启动的时候的问题，那么可能我之前在</a:t>
            </a:r>
            <a:r>
              <a:rPr lang="en-US" altLang="zh-CN" sz="2400" dirty="0"/>
              <a:t>mate40pro</a:t>
            </a:r>
            <a:r>
              <a:rPr lang="zh-CN" altLang="en-US" sz="2400" dirty="0"/>
              <a:t>上的情况就可以作为一个现象（但目前还没有复现）</a:t>
            </a:r>
            <a:r>
              <a:rPr lang="en-US" altLang="zh-CN" sz="2400" dirty="0"/>
              <a:t>——</a:t>
            </a:r>
            <a:r>
              <a:rPr lang="zh-CN" altLang="en-US" sz="2400" dirty="0"/>
              <a:t>它的</a:t>
            </a:r>
            <a:r>
              <a:rPr lang="en-US" altLang="zh-CN" sz="2400" dirty="0"/>
              <a:t>IO</a:t>
            </a:r>
            <a:r>
              <a:rPr lang="zh-CN" altLang="en-US" sz="2400" dirty="0"/>
              <a:t>问题都聚焦在读取</a:t>
            </a:r>
            <a:r>
              <a:rPr lang="en-US" altLang="zh-CN" sz="2400" dirty="0" err="1"/>
              <a:t>apk</a:t>
            </a:r>
            <a:r>
              <a:rPr lang="zh-CN" altLang="en-US" sz="2400" dirty="0"/>
              <a:t>上面，应该是为了初始化界面</a:t>
            </a:r>
            <a:endParaRPr lang="en-US" altLang="zh-CN" sz="2400" dirty="0"/>
          </a:p>
          <a:p>
            <a:pPr marL="342900" indent="-342900">
              <a:buAutoNum type="arabicPeriod"/>
            </a:pPr>
            <a:r>
              <a:rPr lang="zh-CN" altLang="en-US" sz="2400" dirty="0"/>
              <a:t>而后续的快速启动应该就是</a:t>
            </a:r>
            <a:r>
              <a:rPr lang="en-US" altLang="zh-CN" sz="2400" dirty="0"/>
              <a:t>cache</a:t>
            </a:r>
            <a:r>
              <a:rPr lang="zh-CN" altLang="en-US" sz="2400" dirty="0"/>
              <a:t>命中了导致整个启动变快。</a:t>
            </a:r>
            <a:endParaRPr lang="en-US" altLang="zh-CN" sz="2400" dirty="0"/>
          </a:p>
          <a:p>
            <a:r>
              <a:rPr lang="en-US" altLang="zh-CN" sz="2400" b="1" dirty="0"/>
              <a:t>Mismatched Memory Management of Android Smartphones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page fault</a:t>
            </a:r>
            <a:r>
              <a:rPr lang="zh-CN" altLang="en-US" sz="2400" b="1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92484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748A5FA-AFBA-FA9D-9FDB-675EDBF8D56D}"/>
              </a:ext>
            </a:extLst>
          </p:cNvPr>
          <p:cNvSpPr txBox="1"/>
          <p:nvPr/>
        </p:nvSpPr>
        <p:spPr>
          <a:xfrm>
            <a:off x="1752016" y="1951672"/>
            <a:ext cx="75385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下周工作：</a:t>
            </a:r>
            <a:endParaRPr lang="en-US" altLang="zh-CN" dirty="0"/>
          </a:p>
          <a:p>
            <a:r>
              <a:rPr lang="zh-CN" altLang="en-US" b="1" dirty="0"/>
              <a:t>测试的时候观察生成的文件是否是大文件，文件要大，数据量也要大</a:t>
            </a:r>
            <a:r>
              <a:rPr lang="en-US" altLang="zh-CN" b="1" dirty="0"/>
              <a:t>——</a:t>
            </a:r>
            <a:r>
              <a:rPr lang="en-US" altLang="zh-CN" b="1" dirty="0" err="1"/>
              <a:t>test_size</a:t>
            </a:r>
            <a:r>
              <a:rPr lang="zh-CN" altLang="en-US" b="1" dirty="0"/>
              <a:t>是不是表明了文件的大小？</a:t>
            </a:r>
            <a:endParaRPr lang="en-US" altLang="zh-CN" b="1" dirty="0"/>
          </a:p>
          <a:p>
            <a:r>
              <a:rPr lang="zh-CN" altLang="en-US" b="1" dirty="0"/>
              <a:t>复现出手机卡顿的现象</a:t>
            </a:r>
            <a:r>
              <a:rPr lang="en-US" altLang="zh-CN" b="1" dirty="0"/>
              <a:t>——8+128G</a:t>
            </a:r>
            <a:r>
              <a:rPr lang="zh-CN" altLang="en-US" b="1" dirty="0"/>
              <a:t>的手机进行一下写入</a:t>
            </a:r>
            <a:r>
              <a:rPr lang="en-US" altLang="zh-CN" b="1" dirty="0"/>
              <a:t>——</a:t>
            </a:r>
            <a:r>
              <a:rPr lang="zh-CN" altLang="en-US" b="1" dirty="0"/>
              <a:t>现在的问题就是</a:t>
            </a:r>
            <a:r>
              <a:rPr lang="en-US" altLang="zh-CN" b="1" dirty="0"/>
              <a:t>IO</a:t>
            </a:r>
            <a:r>
              <a:rPr lang="zh-CN" altLang="en-US" b="1" dirty="0"/>
              <a:t>占比是否足够？</a:t>
            </a:r>
            <a:endParaRPr lang="en-US" altLang="zh-CN" b="1" dirty="0"/>
          </a:p>
          <a:p>
            <a:r>
              <a:rPr lang="zh-CN" altLang="en-US" b="1" dirty="0"/>
              <a:t>访问的是一个大文件下面的不同位置，还是一个目录下面的顺序文件？</a:t>
            </a:r>
            <a:endParaRPr lang="en-US" altLang="zh-CN" b="1" dirty="0"/>
          </a:p>
          <a:p>
            <a:r>
              <a:rPr lang="zh-CN" altLang="en-US" b="1" dirty="0"/>
              <a:t>一个</a:t>
            </a:r>
            <a:r>
              <a:rPr lang="en-US" altLang="zh-CN" b="1" dirty="0"/>
              <a:t>APP</a:t>
            </a:r>
            <a:r>
              <a:rPr lang="zh-CN" altLang="en-US" b="1" dirty="0"/>
              <a:t>启动的时候究竟访问了哪些文件？（是否有工具可以查看）</a:t>
            </a:r>
            <a:endParaRPr lang="en-US" altLang="zh-CN" b="1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数据连续存储预取</a:t>
            </a:r>
            <a:r>
              <a:rPr lang="en-US" altLang="zh-CN" dirty="0"/>
              <a:t>——</a:t>
            </a:r>
            <a:r>
              <a:rPr lang="zh-CN" altLang="en-US" dirty="0"/>
              <a:t>等效缓存命中</a:t>
            </a:r>
            <a:endParaRPr lang="en-US" altLang="zh-CN" dirty="0"/>
          </a:p>
          <a:p>
            <a:r>
              <a:rPr lang="zh-CN" altLang="en-US" dirty="0"/>
              <a:t>随机读变成顺序读？</a:t>
            </a:r>
            <a:endParaRPr lang="en-US" altLang="zh-CN" dirty="0"/>
          </a:p>
          <a:p>
            <a:r>
              <a:rPr lang="en-US" altLang="zh-CN" dirty="0"/>
              <a:t>——VFS</a:t>
            </a:r>
            <a:r>
              <a:rPr lang="zh-CN" altLang="en-US" dirty="0"/>
              <a:t>和</a:t>
            </a:r>
            <a:r>
              <a:rPr lang="en-US" altLang="zh-CN" dirty="0"/>
              <a:t>readahead</a:t>
            </a:r>
            <a:r>
              <a:rPr lang="zh-CN" altLang="en-US" dirty="0"/>
              <a:t>是否能够有效？</a:t>
            </a:r>
          </a:p>
        </p:txBody>
      </p:sp>
    </p:spTree>
    <p:extLst>
      <p:ext uri="{BB962C8B-B14F-4D97-AF65-F5344CB8AC3E}">
        <p14:creationId xmlns:p14="http://schemas.microsoft.com/office/powerpoint/2010/main" val="3767437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755</Words>
  <Application>Microsoft Office PowerPoint</Application>
  <PresentationFormat>宽屏</PresentationFormat>
  <Paragraphs>61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等线 Light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昊骋 卢</dc:creator>
  <cp:lastModifiedBy>昊骋 卢</cp:lastModifiedBy>
  <cp:revision>2</cp:revision>
  <dcterms:created xsi:type="dcterms:W3CDTF">2026-01-23T04:24:23Z</dcterms:created>
  <dcterms:modified xsi:type="dcterms:W3CDTF">2026-01-30T11:28:22Z</dcterms:modified>
</cp:coreProperties>
</file>